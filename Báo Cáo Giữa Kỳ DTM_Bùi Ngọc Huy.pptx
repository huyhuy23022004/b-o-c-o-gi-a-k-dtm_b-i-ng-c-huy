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ITC Avant Garde Gothic" panose="020B0604020202020204" charset="0"/>
      <p:regular r:id="rId16"/>
    </p:embeddedFont>
    <p:embeddedFont>
      <p:font typeface="TT For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68150"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t="-126" b="-126"/>
              </a:stretch>
            </a:blipFill>
          </p:spPr>
        </p:sp>
      </p:grpSp>
      <p:grpSp>
        <p:nvGrpSpPr>
          <p:cNvPr id="4" name="Group 4"/>
          <p:cNvGrpSpPr/>
          <p:nvPr/>
        </p:nvGrpSpPr>
        <p:grpSpPr>
          <a:xfrm>
            <a:off x="666750" y="666750"/>
            <a:ext cx="9763125" cy="3374988"/>
            <a:chOff x="0" y="0"/>
            <a:chExt cx="13017500" cy="4499984"/>
          </a:xfrm>
        </p:grpSpPr>
        <p:sp>
          <p:nvSpPr>
            <p:cNvPr id="5" name="TextBox 5"/>
            <p:cNvSpPr txBox="1"/>
            <p:nvPr/>
          </p:nvSpPr>
          <p:spPr>
            <a:xfrm>
              <a:off x="0" y="1184275"/>
              <a:ext cx="12609151" cy="3315709"/>
            </a:xfrm>
            <a:prstGeom prst="rect">
              <a:avLst/>
            </a:prstGeom>
          </p:spPr>
          <p:txBody>
            <a:bodyPr lIns="0" tIns="0" rIns="0" bIns="0" rtlCol="0" anchor="t">
              <a:spAutoFit/>
            </a:bodyPr>
            <a:lstStyle/>
            <a:p>
              <a:pPr marL="0" lvl="0" indent="0" algn="l">
                <a:lnSpc>
                  <a:spcPts val="6115"/>
                </a:lnSpc>
              </a:pPr>
              <a:r>
                <a:rPr lang="en-US" sz="6115" spc="-183">
                  <a:solidFill>
                    <a:srgbClr val="2E3C54"/>
                  </a:solidFill>
                  <a:latin typeface="ITC Avant Garde Gothic"/>
                  <a:ea typeface="ITC Avant Garde Gothic"/>
                  <a:cs typeface="ITC Avant Garde Gothic"/>
                  <a:sym typeface="ITC Avant Garde Gothic"/>
                </a:rPr>
                <a:t>TÍCH HỢP OWASP ZAP BASELINE VÀO CI VÀ TẠO REPORT MỖI LẦN BUILD.</a:t>
              </a:r>
            </a:p>
          </p:txBody>
        </p:sp>
        <p:sp>
          <p:nvSpPr>
            <p:cNvPr id="6" name="TextBox 6"/>
            <p:cNvSpPr txBox="1"/>
            <p:nvPr/>
          </p:nvSpPr>
          <p:spPr>
            <a:xfrm>
              <a:off x="0" y="-104775"/>
              <a:ext cx="13017500" cy="626322"/>
            </a:xfrm>
            <a:prstGeom prst="rect">
              <a:avLst/>
            </a:prstGeom>
          </p:spPr>
          <p:txBody>
            <a:bodyPr lIns="0" tIns="0" rIns="0" bIns="0" rtlCol="0" anchor="t">
              <a:spAutoFit/>
            </a:bodyPr>
            <a:lstStyle/>
            <a:p>
              <a:pPr marL="0" lvl="0" indent="0" algn="l">
                <a:lnSpc>
                  <a:spcPts val="3640"/>
                </a:lnSpc>
                <a:spcBef>
                  <a:spcPct val="0"/>
                </a:spcBef>
              </a:pPr>
              <a:r>
                <a:rPr lang="en-US" sz="2600">
                  <a:solidFill>
                    <a:srgbClr val="51708A"/>
                  </a:solidFill>
                  <a:latin typeface="ITC Avant Garde Gothic"/>
                  <a:ea typeface="ITC Avant Garde Gothic"/>
                  <a:cs typeface="ITC Avant Garde Gothic"/>
                  <a:sym typeface="ITC Avant Garde Gothic"/>
                </a:rPr>
                <a:t>KIỂM THỬ PHẦN MỀM-DTM</a:t>
              </a:r>
            </a:p>
          </p:txBody>
        </p:sp>
      </p:grpSp>
      <p:sp>
        <p:nvSpPr>
          <p:cNvPr id="7" name="TextBox 7"/>
          <p:cNvSpPr txBox="1"/>
          <p:nvPr/>
        </p:nvSpPr>
        <p:spPr>
          <a:xfrm>
            <a:off x="666750" y="7344184"/>
            <a:ext cx="8051422" cy="485366"/>
          </a:xfrm>
          <a:prstGeom prst="rect">
            <a:avLst/>
          </a:prstGeom>
        </p:spPr>
        <p:txBody>
          <a:bodyPr lIns="0" tIns="0" rIns="0" bIns="0" rtlCol="0" anchor="t">
            <a:spAutoFit/>
          </a:bodyPr>
          <a:lstStyle/>
          <a:p>
            <a:pPr marL="0" lvl="0" indent="0" algn="l">
              <a:lnSpc>
                <a:spcPts val="4073"/>
              </a:lnSpc>
            </a:pPr>
            <a:r>
              <a:rPr lang="en-US" sz="2909">
                <a:solidFill>
                  <a:srgbClr val="6B7A91"/>
                </a:solidFill>
                <a:latin typeface="TT Fors"/>
                <a:ea typeface="TT Fors"/>
                <a:cs typeface="TT Fors"/>
                <a:sym typeface="TT Fors"/>
              </a:rPr>
              <a:t>Sinh viên thực hiện: Bùi Ngọc Huy_1150080137</a:t>
            </a:r>
          </a:p>
        </p:txBody>
      </p:sp>
      <p:grpSp>
        <p:nvGrpSpPr>
          <p:cNvPr id="8" name="Group 8"/>
          <p:cNvGrpSpPr/>
          <p:nvPr/>
        </p:nvGrpSpPr>
        <p:grpSpPr>
          <a:xfrm>
            <a:off x="9444829" y="7829550"/>
            <a:ext cx="4846643" cy="1791955"/>
            <a:chOff x="0" y="0"/>
            <a:chExt cx="6462190" cy="2389273"/>
          </a:xfrm>
        </p:grpSpPr>
        <p:sp>
          <p:nvSpPr>
            <p:cNvPr id="9" name="Freeform 9"/>
            <p:cNvSpPr/>
            <p:nvPr/>
          </p:nvSpPr>
          <p:spPr>
            <a:xfrm>
              <a:off x="0"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2036459"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4072917"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2"/>
          <p:cNvSpPr txBox="1"/>
          <p:nvPr/>
        </p:nvSpPr>
        <p:spPr>
          <a:xfrm>
            <a:off x="1543166" y="487360"/>
            <a:ext cx="14757039" cy="741045"/>
          </a:xfrm>
          <a:prstGeom prst="rect">
            <a:avLst/>
          </a:prstGeom>
        </p:spPr>
        <p:txBody>
          <a:bodyPr lIns="0" tIns="0" rIns="0" bIns="0" rtlCol="0" anchor="t">
            <a:spAutoFit/>
          </a:bodyPr>
          <a:lstStyle/>
          <a:p>
            <a:pPr marL="0" lvl="0" indent="0" algn="ctr">
              <a:lnSpc>
                <a:spcPts val="4800"/>
              </a:lnSpc>
              <a:spcBef>
                <a:spcPct val="0"/>
              </a:spcBef>
            </a:pPr>
            <a:r>
              <a:rPr lang="en-US" sz="4800" spc="-144">
                <a:solidFill>
                  <a:srgbClr val="2E3C54"/>
                </a:solidFill>
                <a:latin typeface="ITC Avant Garde Gothic"/>
                <a:ea typeface="ITC Avant Garde Gothic"/>
                <a:cs typeface="ITC Avant Garde Gothic"/>
                <a:sym typeface="ITC Avant Garde Gothic"/>
              </a:rPr>
              <a:t>CHƯƠN</a:t>
            </a:r>
            <a:r>
              <a:rPr lang="en-US" sz="4800" u="none" strike="noStrike" spc="-144">
                <a:solidFill>
                  <a:srgbClr val="2E3C54"/>
                </a:solidFill>
                <a:latin typeface="ITC Avant Garde Gothic"/>
                <a:ea typeface="ITC Avant Garde Gothic"/>
                <a:cs typeface="ITC Avant Garde Gothic"/>
                <a:sym typeface="ITC Avant Garde Gothic"/>
              </a:rPr>
              <a:t>G 1: TỔNG QUAN VỀ DỰ ÁN </a:t>
            </a:r>
          </a:p>
        </p:txBody>
      </p:sp>
      <p:grpSp>
        <p:nvGrpSpPr>
          <p:cNvPr id="3" name="Group 3"/>
          <p:cNvGrpSpPr/>
          <p:nvPr/>
        </p:nvGrpSpPr>
        <p:grpSpPr>
          <a:xfrm>
            <a:off x="14744700" y="7829550"/>
            <a:ext cx="4846643" cy="1791955"/>
            <a:chOff x="0" y="0"/>
            <a:chExt cx="6462190" cy="2389273"/>
          </a:xfrm>
        </p:grpSpPr>
        <p:sp>
          <p:nvSpPr>
            <p:cNvPr id="4" name="Freeform 4"/>
            <p:cNvSpPr/>
            <p:nvPr/>
          </p:nvSpPr>
          <p:spPr>
            <a:xfrm>
              <a:off x="0"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2036459"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4072917"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7" name="Group 7"/>
          <p:cNvGrpSpPr/>
          <p:nvPr/>
        </p:nvGrpSpPr>
        <p:grpSpPr>
          <a:xfrm>
            <a:off x="283974" y="93474"/>
            <a:ext cx="15327014" cy="4338052"/>
            <a:chOff x="0" y="0"/>
            <a:chExt cx="20436019" cy="5784070"/>
          </a:xfrm>
        </p:grpSpPr>
        <p:sp>
          <p:nvSpPr>
            <p:cNvPr id="8" name="TextBox 8"/>
            <p:cNvSpPr txBox="1"/>
            <p:nvPr/>
          </p:nvSpPr>
          <p:spPr>
            <a:xfrm>
              <a:off x="0" y="-9525"/>
              <a:ext cx="6980536" cy="765354"/>
            </a:xfrm>
            <a:prstGeom prst="rect">
              <a:avLst/>
            </a:prstGeom>
          </p:spPr>
          <p:txBody>
            <a:bodyPr lIns="0" tIns="0" rIns="0" bIns="0" rtlCol="0" anchor="t">
              <a:spAutoFit/>
            </a:bodyPr>
            <a:lstStyle/>
            <a:p>
              <a:pPr marL="0" lvl="0" indent="0" algn="l">
                <a:lnSpc>
                  <a:spcPts val="3739"/>
                </a:lnSpc>
                <a:spcBef>
                  <a:spcPct val="0"/>
                </a:spcBef>
              </a:pPr>
              <a:endParaRPr/>
            </a:p>
          </p:txBody>
        </p:sp>
        <p:sp>
          <p:nvSpPr>
            <p:cNvPr id="9" name="TextBox 9"/>
            <p:cNvSpPr txBox="1"/>
            <p:nvPr/>
          </p:nvSpPr>
          <p:spPr>
            <a:xfrm>
              <a:off x="633883" y="4429204"/>
              <a:ext cx="19802136" cy="1354866"/>
            </a:xfrm>
            <a:prstGeom prst="rect">
              <a:avLst/>
            </a:prstGeom>
          </p:spPr>
          <p:txBody>
            <a:bodyPr lIns="0" tIns="0" rIns="0" bIns="0" rtlCol="0" anchor="t">
              <a:spAutoFit/>
            </a:bodyPr>
            <a:lstStyle/>
            <a:p>
              <a:pPr algn="l">
                <a:lnSpc>
                  <a:spcPts val="4016"/>
                </a:lnSpc>
                <a:spcBef>
                  <a:spcPct val="0"/>
                </a:spcBef>
              </a:pPr>
              <a:endParaRPr/>
            </a:p>
            <a:p>
              <a:pPr marL="0" lvl="0" indent="0" algn="l">
                <a:lnSpc>
                  <a:spcPts val="4016"/>
                </a:lnSpc>
                <a:spcBef>
                  <a:spcPct val="0"/>
                </a:spcBef>
              </a:pPr>
              <a:endParaRPr/>
            </a:p>
          </p:txBody>
        </p:sp>
      </p:grpSp>
      <p:sp>
        <p:nvSpPr>
          <p:cNvPr id="10" name="TextBox 10"/>
          <p:cNvSpPr txBox="1"/>
          <p:nvPr/>
        </p:nvSpPr>
        <p:spPr>
          <a:xfrm>
            <a:off x="706796" y="3951111"/>
            <a:ext cx="3614589" cy="423545"/>
          </a:xfrm>
          <a:prstGeom prst="rect">
            <a:avLst/>
          </a:prstGeom>
        </p:spPr>
        <p:txBody>
          <a:bodyPr lIns="0" tIns="0" rIns="0" bIns="0" rtlCol="0" anchor="t">
            <a:spAutoFit/>
          </a:bodyPr>
          <a:lstStyle/>
          <a:p>
            <a:pPr algn="ctr">
              <a:lnSpc>
                <a:spcPts val="2799"/>
              </a:lnSpc>
              <a:spcBef>
                <a:spcPct val="0"/>
              </a:spcBef>
            </a:pPr>
            <a:r>
              <a:rPr lang="en-US" sz="2799" spc="-83">
                <a:solidFill>
                  <a:srgbClr val="000000"/>
                </a:solidFill>
                <a:latin typeface="ITC Avant Garde Gothic"/>
                <a:ea typeface="ITC Avant Garde Gothic"/>
                <a:cs typeface="ITC Avant Garde Gothic"/>
                <a:sym typeface="ITC Avant Garde Gothic"/>
              </a:rPr>
              <a:t>1.2. Mục tiêu kiểm thử </a:t>
            </a:r>
          </a:p>
        </p:txBody>
      </p:sp>
      <p:sp>
        <p:nvSpPr>
          <p:cNvPr id="11" name="TextBox 11"/>
          <p:cNvSpPr txBox="1"/>
          <p:nvPr/>
        </p:nvSpPr>
        <p:spPr>
          <a:xfrm>
            <a:off x="702451" y="1560515"/>
            <a:ext cx="3468737" cy="423545"/>
          </a:xfrm>
          <a:prstGeom prst="rect">
            <a:avLst/>
          </a:prstGeom>
        </p:spPr>
        <p:txBody>
          <a:bodyPr lIns="0" tIns="0" rIns="0" bIns="0" rtlCol="0" anchor="t">
            <a:spAutoFit/>
          </a:bodyPr>
          <a:lstStyle/>
          <a:p>
            <a:pPr algn="ctr">
              <a:lnSpc>
                <a:spcPts val="2799"/>
              </a:lnSpc>
              <a:spcBef>
                <a:spcPct val="0"/>
              </a:spcBef>
            </a:pPr>
            <a:r>
              <a:rPr lang="en-US" sz="2799" spc="-83">
                <a:solidFill>
                  <a:srgbClr val="000000"/>
                </a:solidFill>
                <a:latin typeface="ITC Avant Garde Gothic"/>
                <a:ea typeface="ITC Avant Garde Gothic"/>
                <a:cs typeface="ITC Avant Garde Gothic"/>
                <a:sym typeface="ITC Avant Garde Gothic"/>
              </a:rPr>
              <a:t>1.1. Tổng quan đề tài </a:t>
            </a:r>
          </a:p>
        </p:txBody>
      </p:sp>
      <p:sp>
        <p:nvSpPr>
          <p:cNvPr id="12" name="TextBox 12"/>
          <p:cNvSpPr txBox="1"/>
          <p:nvPr/>
        </p:nvSpPr>
        <p:spPr>
          <a:xfrm>
            <a:off x="646863" y="6336802"/>
            <a:ext cx="4001988" cy="423545"/>
          </a:xfrm>
          <a:prstGeom prst="rect">
            <a:avLst/>
          </a:prstGeom>
        </p:spPr>
        <p:txBody>
          <a:bodyPr lIns="0" tIns="0" rIns="0" bIns="0" rtlCol="0" anchor="t">
            <a:spAutoFit/>
          </a:bodyPr>
          <a:lstStyle/>
          <a:p>
            <a:pPr algn="ctr">
              <a:lnSpc>
                <a:spcPts val="2799"/>
              </a:lnSpc>
              <a:spcBef>
                <a:spcPct val="0"/>
              </a:spcBef>
            </a:pPr>
            <a:r>
              <a:rPr lang="en-US" sz="2799" spc="-83">
                <a:solidFill>
                  <a:srgbClr val="000000"/>
                </a:solidFill>
                <a:latin typeface="ITC Avant Garde Gothic"/>
                <a:ea typeface="ITC Avant Garde Gothic"/>
                <a:cs typeface="ITC Avant Garde Gothic"/>
                <a:sym typeface="ITC Avant Garde Gothic"/>
              </a:rPr>
              <a:t>1.3. Công nghệ nền tảng</a:t>
            </a:r>
          </a:p>
        </p:txBody>
      </p:sp>
      <p:sp>
        <p:nvSpPr>
          <p:cNvPr id="13" name="TextBox 13"/>
          <p:cNvSpPr txBox="1"/>
          <p:nvPr/>
        </p:nvSpPr>
        <p:spPr>
          <a:xfrm>
            <a:off x="1028700" y="2132316"/>
            <a:ext cx="16230600" cy="16567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TT Fors"/>
                <a:ea typeface="TT Fors"/>
                <a:cs typeface="TT Fors"/>
                <a:sym typeface="TT Fors"/>
              </a:rPr>
              <a:t>Đề tài “Tích hợp OWASP ZAP Baseline vào CI và tạo report mỗi lần build” tập trung vào việc xây dựng quy trình kiểm thử bảo mật tự động trong pipeline CI/CD.</a:t>
            </a:r>
          </a:p>
          <a:p>
            <a:pPr algn="just">
              <a:lnSpc>
                <a:spcPts val="2659"/>
              </a:lnSpc>
              <a:spcBef>
                <a:spcPct val="0"/>
              </a:spcBef>
            </a:pPr>
            <a:r>
              <a:rPr lang="en-US" sz="1899">
                <a:solidFill>
                  <a:srgbClr val="000000"/>
                </a:solidFill>
                <a:latin typeface="TT Fors"/>
                <a:ea typeface="TT Fors"/>
                <a:cs typeface="TT Fors"/>
                <a:sym typeface="TT Fors"/>
              </a:rPr>
              <a:t>Hệ thống sử dụng OWASP ZAP để quét các lỗ hổng phổ biến theo OWASP Top 10 như Broken Access Control, Injection, Authentication Failures,…</a:t>
            </a:r>
          </a:p>
          <a:p>
            <a:pPr algn="just">
              <a:lnSpc>
                <a:spcPts val="2659"/>
              </a:lnSpc>
              <a:spcBef>
                <a:spcPct val="0"/>
              </a:spcBef>
            </a:pPr>
            <a:r>
              <a:rPr lang="en-US" sz="1899">
                <a:solidFill>
                  <a:srgbClr val="000000"/>
                </a:solidFill>
                <a:latin typeface="TT Fors"/>
                <a:ea typeface="TT Fors"/>
                <a:cs typeface="TT Fors"/>
                <a:sym typeface="TT Fors"/>
              </a:rPr>
              <a:t>Bên cạnh kiểm thử hộp đen thông qua API, đề tài còn áp dụng kiểm thử hộp trắng bằng cách phân tích luồng điều khiển (Control Flow) và độ bao phủ đường đi (Path Coverage) để đánh giá logic chương trình.</a:t>
            </a:r>
          </a:p>
        </p:txBody>
      </p:sp>
      <p:sp>
        <p:nvSpPr>
          <p:cNvPr id="14" name="TextBox 14"/>
          <p:cNvSpPr txBox="1"/>
          <p:nvPr/>
        </p:nvSpPr>
        <p:spPr>
          <a:xfrm>
            <a:off x="1028700" y="4537212"/>
            <a:ext cx="16230600" cy="1656715"/>
          </a:xfrm>
          <a:prstGeom prst="rect">
            <a:avLst/>
          </a:prstGeom>
        </p:spPr>
        <p:txBody>
          <a:bodyPr lIns="0" tIns="0" rIns="0" bIns="0" rtlCol="0" anchor="t">
            <a:spAutoFit/>
          </a:bodyPr>
          <a:lstStyle/>
          <a:p>
            <a:pPr marL="410211" lvl="1" indent="-205106" algn="l">
              <a:lnSpc>
                <a:spcPts val="2660"/>
              </a:lnSpc>
              <a:buFont typeface="Arial"/>
              <a:buChar char="•"/>
            </a:pPr>
            <a:r>
              <a:rPr lang="en-US" sz="1900">
                <a:solidFill>
                  <a:srgbClr val="000000"/>
                </a:solidFill>
                <a:latin typeface="TT Fors"/>
                <a:ea typeface="TT Fors"/>
                <a:cs typeface="TT Fors"/>
                <a:sym typeface="TT Fors"/>
              </a:rPr>
              <a:t>Tích hợp OWASP ZAP vào pipeline CI để tự động kiểm thử bảo mật</a:t>
            </a:r>
          </a:p>
          <a:p>
            <a:pPr marL="410211" lvl="1" indent="-205106" algn="l">
              <a:lnSpc>
                <a:spcPts val="2660"/>
              </a:lnSpc>
              <a:buFont typeface="Arial"/>
              <a:buChar char="•"/>
            </a:pPr>
            <a:r>
              <a:rPr lang="en-US" sz="1900">
                <a:solidFill>
                  <a:srgbClr val="000000"/>
                </a:solidFill>
                <a:latin typeface="TT Fors"/>
                <a:ea typeface="TT Fors"/>
                <a:cs typeface="TT Fors"/>
                <a:sym typeface="TT Fors"/>
              </a:rPr>
              <a:t>Phát hiện sớm các lỗ hổng theo OWASP Top 10</a:t>
            </a:r>
          </a:p>
          <a:p>
            <a:pPr marL="410211" lvl="1" indent="-205106" algn="l">
              <a:lnSpc>
                <a:spcPts val="2660"/>
              </a:lnSpc>
              <a:buFont typeface="Arial"/>
              <a:buChar char="•"/>
            </a:pPr>
            <a:r>
              <a:rPr lang="en-US" sz="1900">
                <a:solidFill>
                  <a:srgbClr val="000000"/>
                </a:solidFill>
                <a:latin typeface="TT Fors"/>
                <a:ea typeface="TT Fors"/>
                <a:cs typeface="TT Fors"/>
                <a:sym typeface="TT Fors"/>
              </a:rPr>
              <a:t>Tự động tạo báo cáo sau mỗi lần build</a:t>
            </a:r>
          </a:p>
          <a:p>
            <a:pPr marL="410211" lvl="1" indent="-205106" algn="l">
              <a:lnSpc>
                <a:spcPts val="2660"/>
              </a:lnSpc>
              <a:buFont typeface="Arial"/>
              <a:buChar char="•"/>
            </a:pPr>
            <a:r>
              <a:rPr lang="en-US" sz="1900">
                <a:solidFill>
                  <a:srgbClr val="000000"/>
                </a:solidFill>
                <a:latin typeface="TT Fors"/>
                <a:ea typeface="TT Fors"/>
                <a:cs typeface="TT Fors"/>
                <a:sym typeface="TT Fors"/>
              </a:rPr>
              <a:t>Áp dụng kiểm thử hộp trắng: Control Flow, Path Coverage</a:t>
            </a:r>
          </a:p>
          <a:p>
            <a:pPr marL="410211" lvl="1" indent="-205106" algn="l">
              <a:lnSpc>
                <a:spcPts val="2660"/>
              </a:lnSpc>
              <a:buFont typeface="Arial"/>
              <a:buChar char="•"/>
            </a:pPr>
            <a:r>
              <a:rPr lang="en-US" sz="1900">
                <a:solidFill>
                  <a:srgbClr val="000000"/>
                </a:solidFill>
                <a:latin typeface="TT Fors"/>
                <a:ea typeface="TT Fors"/>
                <a:cs typeface="TT Fors"/>
                <a:sym typeface="TT Fors"/>
              </a:rPr>
              <a:t>Đánh giá chất lượng hệ thống dựa trên kết quả test và báo cáo bảo mật</a:t>
            </a:r>
          </a:p>
        </p:txBody>
      </p:sp>
      <p:sp>
        <p:nvSpPr>
          <p:cNvPr id="15" name="TextBox 15"/>
          <p:cNvSpPr txBox="1"/>
          <p:nvPr/>
        </p:nvSpPr>
        <p:spPr>
          <a:xfrm>
            <a:off x="1028700" y="6876383"/>
            <a:ext cx="16139321" cy="2323465"/>
          </a:xfrm>
          <a:prstGeom prst="rect">
            <a:avLst/>
          </a:prstGeom>
        </p:spPr>
        <p:txBody>
          <a:bodyPr lIns="0" tIns="0" rIns="0" bIns="0" rtlCol="0" anchor="t">
            <a:spAutoFit/>
          </a:bodyPr>
          <a:lstStyle/>
          <a:p>
            <a:pPr marL="410211" lvl="1" indent="-205106" algn="l">
              <a:lnSpc>
                <a:spcPts val="2660"/>
              </a:lnSpc>
              <a:buFont typeface="Arial"/>
              <a:buChar char="•"/>
            </a:pPr>
            <a:r>
              <a:rPr lang="en-US" sz="1900">
                <a:solidFill>
                  <a:srgbClr val="000000"/>
                </a:solidFill>
                <a:latin typeface="TT Fors"/>
                <a:ea typeface="TT Fors"/>
                <a:cs typeface="TT Fors"/>
                <a:sym typeface="TT Fors"/>
              </a:rPr>
              <a:t>Ngôn ngữ: Java / Spring Boot </a:t>
            </a:r>
          </a:p>
          <a:p>
            <a:pPr marL="410211" lvl="1" indent="-205106" algn="l">
              <a:lnSpc>
                <a:spcPts val="2660"/>
              </a:lnSpc>
              <a:buFont typeface="Arial"/>
              <a:buChar char="•"/>
            </a:pPr>
            <a:r>
              <a:rPr lang="en-US" sz="1900">
                <a:solidFill>
                  <a:srgbClr val="000000"/>
                </a:solidFill>
                <a:latin typeface="TT Fors"/>
                <a:ea typeface="TT Fors"/>
                <a:cs typeface="TT Fors"/>
                <a:sym typeface="TT Fors"/>
              </a:rPr>
              <a:t>CI/CD: GitHub Actions</a:t>
            </a:r>
          </a:p>
          <a:p>
            <a:pPr marL="410211" lvl="1" indent="-205106" algn="l">
              <a:lnSpc>
                <a:spcPts val="2660"/>
              </a:lnSpc>
              <a:buFont typeface="Arial"/>
              <a:buChar char="•"/>
            </a:pPr>
            <a:r>
              <a:rPr lang="en-US" sz="1900">
                <a:solidFill>
                  <a:srgbClr val="000000"/>
                </a:solidFill>
                <a:latin typeface="TT Fors"/>
                <a:ea typeface="TT Fors"/>
                <a:cs typeface="TT Fors"/>
                <a:sym typeface="TT Fors"/>
              </a:rPr>
              <a:t>Công cụ kiểm thử bảo mật: OWASP ZAP Baseline</a:t>
            </a:r>
          </a:p>
          <a:p>
            <a:pPr marL="410211" lvl="1" indent="-205106" algn="l">
              <a:lnSpc>
                <a:spcPts val="2660"/>
              </a:lnSpc>
              <a:buFont typeface="Arial"/>
              <a:buChar char="•"/>
            </a:pPr>
            <a:r>
              <a:rPr lang="en-US" sz="1900">
                <a:solidFill>
                  <a:srgbClr val="000000"/>
                </a:solidFill>
                <a:latin typeface="TT Fors"/>
                <a:ea typeface="TT Fors"/>
                <a:cs typeface="TT Fors"/>
                <a:sym typeface="TT Fors"/>
              </a:rPr>
              <a:t>Kiểm thử hộp trắng: Control Flow Graph, Path Coverage</a:t>
            </a:r>
          </a:p>
          <a:p>
            <a:pPr marL="410211" lvl="1" indent="-205106" algn="l">
              <a:lnSpc>
                <a:spcPts val="2660"/>
              </a:lnSpc>
              <a:buFont typeface="Arial"/>
              <a:buChar char="•"/>
            </a:pPr>
            <a:r>
              <a:rPr lang="en-US" sz="1900">
                <a:solidFill>
                  <a:srgbClr val="000000"/>
                </a:solidFill>
                <a:latin typeface="TT Fors"/>
                <a:ea typeface="TT Fors"/>
                <a:cs typeface="TT Fors"/>
                <a:sym typeface="TT Fors"/>
              </a:rPr>
              <a:t>Môi trường chạy: Docker (deploy ứng dụng để scan)</a:t>
            </a:r>
          </a:p>
          <a:p>
            <a:pPr marL="410211" lvl="1" indent="-205106" algn="l">
              <a:lnSpc>
                <a:spcPts val="2660"/>
              </a:lnSpc>
              <a:buFont typeface="Arial"/>
              <a:buChar char="•"/>
            </a:pPr>
            <a:r>
              <a:rPr lang="en-US" sz="1900">
                <a:solidFill>
                  <a:srgbClr val="000000"/>
                </a:solidFill>
                <a:latin typeface="TT Fors"/>
                <a:ea typeface="TT Fors"/>
                <a:cs typeface="TT Fors"/>
                <a:sym typeface="TT Fors"/>
              </a:rPr>
              <a:t>Báo cáo: HTML/JSON report từ ZAP</a:t>
            </a:r>
          </a:p>
          <a:p>
            <a:pPr marL="410211" lvl="1" indent="-205106" algn="l">
              <a:lnSpc>
                <a:spcPts val="2660"/>
              </a:lnSpc>
              <a:buFont typeface="Arial"/>
              <a:buChar char="•"/>
            </a:pPr>
            <a:r>
              <a:rPr lang="en-US" sz="1900">
                <a:solidFill>
                  <a:srgbClr val="000000"/>
                </a:solidFill>
                <a:latin typeface="TT Fors"/>
                <a:ea typeface="TT Fors"/>
                <a:cs typeface="TT Fors"/>
                <a:sym typeface="TT Fors"/>
              </a:rPr>
              <a:t>Unit Test: JUnit dùng để kiểm tra logic chức năng (white-box)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44700" y="7829550"/>
            <a:ext cx="4846643" cy="1791955"/>
            <a:chOff x="0" y="0"/>
            <a:chExt cx="6462190" cy="2389273"/>
          </a:xfrm>
        </p:grpSpPr>
        <p:sp>
          <p:nvSpPr>
            <p:cNvPr id="3" name="Freeform 3"/>
            <p:cNvSpPr/>
            <p:nvPr/>
          </p:nvSpPr>
          <p:spPr>
            <a:xfrm>
              <a:off x="0"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036459"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072917"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6" name="TextBox 6"/>
          <p:cNvSpPr txBox="1"/>
          <p:nvPr/>
        </p:nvSpPr>
        <p:spPr>
          <a:xfrm>
            <a:off x="1028700" y="257175"/>
            <a:ext cx="16139321" cy="1350645"/>
          </a:xfrm>
          <a:prstGeom prst="rect">
            <a:avLst/>
          </a:prstGeom>
        </p:spPr>
        <p:txBody>
          <a:bodyPr lIns="0" tIns="0" rIns="0" bIns="0" rtlCol="0" anchor="t">
            <a:spAutoFit/>
          </a:bodyPr>
          <a:lstStyle/>
          <a:p>
            <a:pPr marL="0" lvl="0" indent="0" algn="ctr">
              <a:lnSpc>
                <a:spcPts val="4800"/>
              </a:lnSpc>
              <a:spcBef>
                <a:spcPct val="0"/>
              </a:spcBef>
            </a:pPr>
            <a:r>
              <a:rPr lang="en-US" sz="4800" spc="-144">
                <a:solidFill>
                  <a:srgbClr val="2E3C54"/>
                </a:solidFill>
                <a:latin typeface="ITC Avant Garde Gothic"/>
                <a:ea typeface="ITC Avant Garde Gothic"/>
                <a:cs typeface="ITC Avant Garde Gothic"/>
                <a:sym typeface="ITC Avant Garde Gothic"/>
              </a:rPr>
              <a:t>CHƯƠNG 2: PHÂN TÍCH YÊU CẦU VÀ PHẠ</a:t>
            </a:r>
            <a:r>
              <a:rPr lang="en-US" sz="4800" u="none" strike="noStrike" spc="-144">
                <a:solidFill>
                  <a:srgbClr val="2E3C54"/>
                </a:solidFill>
                <a:latin typeface="ITC Avant Garde Gothic"/>
                <a:ea typeface="ITC Avant Garde Gothic"/>
                <a:cs typeface="ITC Avant Garde Gothic"/>
                <a:sym typeface="ITC Avant Garde Gothic"/>
              </a:rPr>
              <a:t>M VI KIỂM THỬ </a:t>
            </a:r>
          </a:p>
          <a:p>
            <a:pPr marL="0" lvl="0" indent="0" algn="ctr">
              <a:lnSpc>
                <a:spcPts val="4800"/>
              </a:lnSpc>
              <a:spcBef>
                <a:spcPct val="0"/>
              </a:spcBef>
            </a:pPr>
            <a:endParaRPr lang="en-US" sz="4800" u="none" strike="noStrike" spc="-144">
              <a:solidFill>
                <a:srgbClr val="2E3C54"/>
              </a:solidFill>
              <a:latin typeface="ITC Avant Garde Gothic"/>
              <a:ea typeface="ITC Avant Garde Gothic"/>
              <a:cs typeface="ITC Avant Garde Gothic"/>
              <a:sym typeface="ITC Avant Garde Gothic"/>
            </a:endParaRPr>
          </a:p>
        </p:txBody>
      </p:sp>
      <p:sp>
        <p:nvSpPr>
          <p:cNvPr id="7" name="TextBox 7"/>
          <p:cNvSpPr txBox="1"/>
          <p:nvPr/>
        </p:nvSpPr>
        <p:spPr>
          <a:xfrm>
            <a:off x="1028700" y="1028700"/>
            <a:ext cx="16139321" cy="775970"/>
          </a:xfrm>
          <a:prstGeom prst="rect">
            <a:avLst/>
          </a:prstGeom>
        </p:spPr>
        <p:txBody>
          <a:bodyPr lIns="0" tIns="0" rIns="0" bIns="0" rtlCol="0" anchor="t">
            <a:spAutoFit/>
          </a:bodyPr>
          <a:lstStyle/>
          <a:p>
            <a:pPr algn="just">
              <a:lnSpc>
                <a:spcPts val="2799"/>
              </a:lnSpc>
              <a:spcBef>
                <a:spcPct val="0"/>
              </a:spcBef>
            </a:pPr>
            <a:r>
              <a:rPr lang="en-US" sz="2799" spc="-83">
                <a:solidFill>
                  <a:srgbClr val="2E3C54"/>
                </a:solidFill>
                <a:latin typeface="ITC Avant Garde Gothic"/>
                <a:ea typeface="ITC Avant Garde Gothic"/>
                <a:cs typeface="ITC Avant Garde Gothic"/>
                <a:sym typeface="ITC Avant Garde Gothic"/>
              </a:rPr>
              <a:t>2.1. Danh sách các nhóm lỗ hổng (OWASP Top 10 2021) được kiểm tra bởi OWASP ZAP baseline</a:t>
            </a:r>
          </a:p>
          <a:p>
            <a:pPr algn="just">
              <a:lnSpc>
                <a:spcPts val="2799"/>
              </a:lnSpc>
              <a:spcBef>
                <a:spcPct val="0"/>
              </a:spcBef>
            </a:pPr>
            <a:r>
              <a:rPr lang="en-US" sz="2799" spc="-83">
                <a:solidFill>
                  <a:srgbClr val="2E3C54"/>
                </a:solidFill>
                <a:latin typeface="ITC Avant Garde Gothic"/>
                <a:ea typeface="ITC Avant Garde Gothic"/>
                <a:cs typeface="ITC Avant Garde Gothic"/>
                <a:sym typeface="ITC Avant Garde Gothic"/>
              </a:rPr>
              <a:t> </a:t>
            </a:r>
          </a:p>
        </p:txBody>
      </p:sp>
      <p:sp>
        <p:nvSpPr>
          <p:cNvPr id="8" name="TextBox 8"/>
          <p:cNvSpPr txBox="1"/>
          <p:nvPr/>
        </p:nvSpPr>
        <p:spPr>
          <a:xfrm>
            <a:off x="1028700" y="4082415"/>
            <a:ext cx="3262461" cy="423545"/>
          </a:xfrm>
          <a:prstGeom prst="rect">
            <a:avLst/>
          </a:prstGeom>
        </p:spPr>
        <p:txBody>
          <a:bodyPr lIns="0" tIns="0" rIns="0" bIns="0" rtlCol="0" anchor="t">
            <a:spAutoFit/>
          </a:bodyPr>
          <a:lstStyle/>
          <a:p>
            <a:pPr algn="ctr">
              <a:lnSpc>
                <a:spcPts val="2799"/>
              </a:lnSpc>
              <a:spcBef>
                <a:spcPct val="0"/>
              </a:spcBef>
            </a:pPr>
            <a:r>
              <a:rPr lang="en-US" sz="2799" spc="-83">
                <a:solidFill>
                  <a:srgbClr val="000000"/>
                </a:solidFill>
                <a:latin typeface="ITC Avant Garde Gothic"/>
                <a:ea typeface="ITC Avant Garde Gothic"/>
                <a:cs typeface="ITC Avant Garde Gothic"/>
                <a:sym typeface="ITC Avant Garde Gothic"/>
              </a:rPr>
              <a:t>2.2 Phạm vi kiểm thử</a:t>
            </a:r>
          </a:p>
        </p:txBody>
      </p:sp>
      <p:sp>
        <p:nvSpPr>
          <p:cNvPr id="9" name="TextBox 9"/>
          <p:cNvSpPr txBox="1"/>
          <p:nvPr/>
        </p:nvSpPr>
        <p:spPr>
          <a:xfrm>
            <a:off x="1028700" y="8071484"/>
            <a:ext cx="3916263" cy="481330"/>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T Fors"/>
                <a:ea typeface="TT Fors"/>
                <a:cs typeface="TT Fors"/>
                <a:sym typeface="TT Fors"/>
              </a:rPr>
              <a:t>2.3. Đối tượng kiểm thử </a:t>
            </a:r>
          </a:p>
        </p:txBody>
      </p:sp>
      <p:sp>
        <p:nvSpPr>
          <p:cNvPr id="10" name="TextBox 10"/>
          <p:cNvSpPr txBox="1"/>
          <p:nvPr/>
        </p:nvSpPr>
        <p:spPr>
          <a:xfrm>
            <a:off x="1028700" y="1378585"/>
            <a:ext cx="10670530" cy="265239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TT Fors"/>
                <a:ea typeface="TT Fors"/>
                <a:cs typeface="TT Fors"/>
                <a:sym typeface="TT Fors"/>
              </a:rPr>
              <a:t>A1 – Broken Access Control Lỗi phân quyền, truy cập trái phép tài nguyên.</a:t>
            </a:r>
          </a:p>
          <a:p>
            <a:pPr algn="l">
              <a:lnSpc>
                <a:spcPts val="2380"/>
              </a:lnSpc>
              <a:spcBef>
                <a:spcPct val="0"/>
              </a:spcBef>
            </a:pPr>
            <a:r>
              <a:rPr lang="en-US" sz="1700">
                <a:solidFill>
                  <a:srgbClr val="000000"/>
                </a:solidFill>
                <a:latin typeface="TT Fors"/>
                <a:ea typeface="TT Fors"/>
                <a:cs typeface="TT Fors"/>
                <a:sym typeface="TT Fors"/>
              </a:rPr>
              <a:t>A2 – Cryptographic Failures Lỗi mã hóa, truyền dữ liệu không an toàn (HTTP, Base64…).</a:t>
            </a:r>
          </a:p>
          <a:p>
            <a:pPr algn="l">
              <a:lnSpc>
                <a:spcPts val="2380"/>
              </a:lnSpc>
              <a:spcBef>
                <a:spcPct val="0"/>
              </a:spcBef>
            </a:pPr>
            <a:r>
              <a:rPr lang="en-US" sz="1700">
                <a:solidFill>
                  <a:srgbClr val="000000"/>
                </a:solidFill>
                <a:latin typeface="TT Fors"/>
                <a:ea typeface="TT Fors"/>
                <a:cs typeface="TT Fors"/>
                <a:sym typeface="TT Fors"/>
              </a:rPr>
              <a:t>A3 – Injection SQL Injection, Command Injection, XSS qua input.</a:t>
            </a:r>
          </a:p>
          <a:p>
            <a:pPr algn="l">
              <a:lnSpc>
                <a:spcPts val="2380"/>
              </a:lnSpc>
              <a:spcBef>
                <a:spcPct val="0"/>
              </a:spcBef>
            </a:pPr>
            <a:r>
              <a:rPr lang="en-US" sz="1700">
                <a:solidFill>
                  <a:srgbClr val="000000"/>
                </a:solidFill>
                <a:latin typeface="TT Fors"/>
                <a:ea typeface="TT Fors"/>
                <a:cs typeface="TT Fors"/>
                <a:sym typeface="TT Fors"/>
              </a:rPr>
              <a:t>A4 – Insecure Design Lỗi bảo mật do thiết kế hệ thống thiếu kiểm soát logic nghiệp vụ.</a:t>
            </a:r>
          </a:p>
          <a:p>
            <a:pPr algn="l">
              <a:lnSpc>
                <a:spcPts val="2380"/>
              </a:lnSpc>
              <a:spcBef>
                <a:spcPct val="0"/>
              </a:spcBef>
            </a:pPr>
            <a:r>
              <a:rPr lang="en-US" sz="1700">
                <a:solidFill>
                  <a:srgbClr val="000000"/>
                </a:solidFill>
                <a:latin typeface="TT Fors"/>
                <a:ea typeface="TT Fors"/>
                <a:cs typeface="TT Fors"/>
                <a:sym typeface="TT Fors"/>
              </a:rPr>
              <a:t>A5 – Security Misconfiguration Cấu hình sai: debug mode bật, endpoint lộ, thiếu header bảo mật.</a:t>
            </a:r>
          </a:p>
          <a:p>
            <a:pPr algn="l">
              <a:lnSpc>
                <a:spcPts val="2380"/>
              </a:lnSpc>
              <a:spcBef>
                <a:spcPct val="0"/>
              </a:spcBef>
            </a:pPr>
            <a:r>
              <a:rPr lang="en-US" sz="1700">
                <a:solidFill>
                  <a:srgbClr val="000000"/>
                </a:solidFill>
                <a:latin typeface="TT Fors"/>
                <a:ea typeface="TT Fors"/>
                <a:cs typeface="TT Fors"/>
                <a:sym typeface="TT Fors"/>
              </a:rPr>
              <a:t>A6 – Vulnerable &amp; Outdated Components Thư viện cũ, có CVE đã biết.</a:t>
            </a:r>
          </a:p>
          <a:p>
            <a:pPr algn="l">
              <a:lnSpc>
                <a:spcPts val="2380"/>
              </a:lnSpc>
              <a:spcBef>
                <a:spcPct val="0"/>
              </a:spcBef>
            </a:pPr>
            <a:r>
              <a:rPr lang="en-US" sz="1700">
                <a:solidFill>
                  <a:srgbClr val="000000"/>
                </a:solidFill>
                <a:latin typeface="TT Fors"/>
                <a:ea typeface="TT Fors"/>
                <a:cs typeface="TT Fors"/>
                <a:sym typeface="TT Fors"/>
              </a:rPr>
              <a:t>A7 – Identification &amp; Authentication Failures Lỗi xác thực, session fixation, brute force.</a:t>
            </a:r>
          </a:p>
          <a:p>
            <a:pPr algn="l">
              <a:lnSpc>
                <a:spcPts val="2380"/>
              </a:lnSpc>
              <a:spcBef>
                <a:spcPct val="0"/>
              </a:spcBef>
            </a:pPr>
            <a:r>
              <a:rPr lang="en-US" sz="1700">
                <a:solidFill>
                  <a:srgbClr val="000000"/>
                </a:solidFill>
                <a:latin typeface="TT Fors"/>
                <a:ea typeface="TT Fors"/>
                <a:cs typeface="TT Fors"/>
                <a:sym typeface="TT Fors"/>
              </a:rPr>
              <a:t>A8 – Software &amp; Data Integrity Failures Lỗi CI/CD pipeline, artifact không kiểm tra chữ ký, supply chain.</a:t>
            </a:r>
          </a:p>
          <a:p>
            <a:pPr algn="l">
              <a:lnSpc>
                <a:spcPts val="2380"/>
              </a:lnSpc>
              <a:spcBef>
                <a:spcPct val="0"/>
              </a:spcBef>
            </a:pPr>
            <a:r>
              <a:rPr lang="en-US" sz="1700">
                <a:solidFill>
                  <a:srgbClr val="000000"/>
                </a:solidFill>
                <a:latin typeface="TT Fors"/>
                <a:ea typeface="TT Fors"/>
                <a:cs typeface="TT Fors"/>
                <a:sym typeface="TT Fors"/>
              </a:rPr>
              <a:t>A9 – Security Logging &amp; Monitoring Failures Thiếu log sự kiện bảo mật, không cảnh báo hành vi bất thường.</a:t>
            </a:r>
          </a:p>
        </p:txBody>
      </p:sp>
      <p:sp>
        <p:nvSpPr>
          <p:cNvPr id="11" name="TextBox 11"/>
          <p:cNvSpPr txBox="1"/>
          <p:nvPr/>
        </p:nvSpPr>
        <p:spPr>
          <a:xfrm>
            <a:off x="997595" y="4467860"/>
            <a:ext cx="3524399" cy="3067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TT Fors"/>
                <a:ea typeface="TT Fors"/>
                <a:cs typeface="TT Fors"/>
                <a:sym typeface="TT Fors"/>
              </a:rPr>
              <a:t>Phạm vi trong kiểm thử (In-scope)</a:t>
            </a:r>
          </a:p>
        </p:txBody>
      </p:sp>
      <p:sp>
        <p:nvSpPr>
          <p:cNvPr id="12" name="TextBox 12"/>
          <p:cNvSpPr txBox="1"/>
          <p:nvPr/>
        </p:nvSpPr>
        <p:spPr>
          <a:xfrm>
            <a:off x="997595" y="4784090"/>
            <a:ext cx="16139321" cy="156400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TT Fors"/>
                <a:ea typeface="TT Fors"/>
                <a:cs typeface="TT Fors"/>
                <a:sym typeface="TT Fors"/>
              </a:rPr>
              <a:t>Phương pháp tiếp cận: Dựa trên mã nguồn (Source Code) của ứng dụng web và mã pipeline CI/CD.</a:t>
            </a:r>
          </a:p>
          <a:p>
            <a:pPr algn="just">
              <a:lnSpc>
                <a:spcPts val="2520"/>
              </a:lnSpc>
              <a:spcBef>
                <a:spcPct val="0"/>
              </a:spcBef>
            </a:pPr>
            <a:r>
              <a:rPr lang="en-US" sz="1800">
                <a:solidFill>
                  <a:srgbClr val="000000"/>
                </a:solidFill>
                <a:latin typeface="TT Fors"/>
                <a:ea typeface="TT Fors"/>
                <a:cs typeface="TT Fors"/>
                <a:sym typeface="TT Fors"/>
              </a:rPr>
              <a:t>Unit Testing sử dụng framework phù hợp (JUnit 5 cho Java, pytest cho Python, Jest cho JS...).</a:t>
            </a:r>
          </a:p>
          <a:p>
            <a:pPr algn="just">
              <a:lnSpc>
                <a:spcPts val="2520"/>
              </a:lnSpc>
              <a:spcBef>
                <a:spcPct val="0"/>
              </a:spcBef>
            </a:pPr>
            <a:r>
              <a:rPr lang="en-US" sz="1800">
                <a:solidFill>
                  <a:srgbClr val="000000"/>
                </a:solidFill>
                <a:latin typeface="TT Fors"/>
                <a:ea typeface="TT Fors"/>
                <a:cs typeface="TT Fors"/>
                <a:sym typeface="TT Fors"/>
              </a:rPr>
              <a:t>Tính toán độ bao phủ code: Statement Coverage, Decision Coverage, Branch Coverage, Path Coverage, Loop Boundary Testing.</a:t>
            </a:r>
          </a:p>
          <a:p>
            <a:pPr algn="just">
              <a:lnSpc>
                <a:spcPts val="2520"/>
              </a:lnSpc>
              <a:spcBef>
                <a:spcPct val="0"/>
              </a:spcBef>
            </a:pPr>
            <a:r>
              <a:rPr lang="en-US" sz="1800">
                <a:solidFill>
                  <a:srgbClr val="000000"/>
                </a:solidFill>
                <a:latin typeface="TT Fors"/>
                <a:ea typeface="TT Fors"/>
                <a:cs typeface="TT Fors"/>
                <a:sym typeface="TT Fors"/>
              </a:rPr>
              <a:t>Công cụ: JaCoCo (Java), coverage.py (Python), Istanbul (JS)... để đo coverage cho phần code xử lý input, authentication, session, và logic pipeline (script chạy ZAP). Mục tiêu: Đảm bảo code xử lý lỗ hổng (input validation, auth logic) có coverage cao trước khi tích hợp ZAP baseline.</a:t>
            </a:r>
          </a:p>
        </p:txBody>
      </p:sp>
      <p:sp>
        <p:nvSpPr>
          <p:cNvPr id="13" name="TextBox 13"/>
          <p:cNvSpPr txBox="1"/>
          <p:nvPr/>
        </p:nvSpPr>
        <p:spPr>
          <a:xfrm>
            <a:off x="997595" y="6333807"/>
            <a:ext cx="3916263" cy="29019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TT Fors"/>
                <a:ea typeface="TT Fors"/>
                <a:cs typeface="TT Fors"/>
                <a:sym typeface="TT Fors"/>
              </a:rPr>
              <a:t>Phạm vi ngoài kiểm thử (Out-scope)</a:t>
            </a:r>
          </a:p>
        </p:txBody>
      </p:sp>
      <p:sp>
        <p:nvSpPr>
          <p:cNvPr id="14" name="TextBox 14"/>
          <p:cNvSpPr txBox="1"/>
          <p:nvPr/>
        </p:nvSpPr>
        <p:spPr>
          <a:xfrm>
            <a:off x="1028700" y="6609714"/>
            <a:ext cx="11458575" cy="147129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TT Fors"/>
                <a:ea typeface="TT Fors"/>
                <a:cs typeface="TT Fors"/>
                <a:sym typeface="TT Fors"/>
              </a:rPr>
              <a:t>OWASP ZAP baseline scan (sử dụng zap-baseline.py hoặc GitHub Action/Jenkins plugin).</a:t>
            </a:r>
          </a:p>
          <a:p>
            <a:pPr algn="l">
              <a:lnSpc>
                <a:spcPts val="2380"/>
              </a:lnSpc>
              <a:spcBef>
                <a:spcPct val="0"/>
              </a:spcBef>
            </a:pPr>
            <a:r>
              <a:rPr lang="en-US" sz="1700">
                <a:solidFill>
                  <a:srgbClr val="000000"/>
                </a:solidFill>
                <a:latin typeface="TT Fors"/>
                <a:ea typeface="TT Fors"/>
                <a:cs typeface="TT Fors"/>
                <a:sym typeface="TT Fors"/>
              </a:rPr>
              <a:t>Chạy tự động trong CI/CD (GitHub Actions, Jenkins, GitLab CI...) trên URL ứng dụng (staging/dev).</a:t>
            </a:r>
          </a:p>
          <a:p>
            <a:pPr algn="l">
              <a:lnSpc>
                <a:spcPts val="2380"/>
              </a:lnSpc>
              <a:spcBef>
                <a:spcPct val="0"/>
              </a:spcBef>
            </a:pPr>
            <a:r>
              <a:rPr lang="en-US" sz="1700">
                <a:solidFill>
                  <a:srgbClr val="000000"/>
                </a:solidFill>
                <a:latin typeface="TT Fors"/>
                <a:ea typeface="TT Fors"/>
                <a:cs typeface="TT Fors"/>
                <a:sym typeface="TT Fors"/>
              </a:rPr>
              <a:t>Non-intrusive/passive scan + một số check active nhẹ, phù hợp CI nhanh.</a:t>
            </a:r>
          </a:p>
          <a:p>
            <a:pPr algn="l">
              <a:lnSpc>
                <a:spcPts val="2380"/>
              </a:lnSpc>
              <a:spcBef>
                <a:spcPct val="0"/>
              </a:spcBef>
            </a:pPr>
            <a:r>
              <a:rPr lang="en-US" sz="1700">
                <a:solidFill>
                  <a:srgbClr val="000000"/>
                </a:solidFill>
                <a:latin typeface="TT Fors"/>
                <a:ea typeface="TT Fors"/>
                <a:cs typeface="TT Fors"/>
                <a:sym typeface="TT Fors"/>
              </a:rPr>
              <a:t>Tạo report tự động mỗi lần build (HTML/XML/JSON), attach artifact, fail build nếu alert High/Critical vượt threshold.</a:t>
            </a:r>
          </a:p>
          <a:p>
            <a:pPr algn="l">
              <a:lnSpc>
                <a:spcPts val="2380"/>
              </a:lnSpc>
              <a:spcBef>
                <a:spcPct val="0"/>
              </a:spcBef>
            </a:pPr>
            <a:r>
              <a:rPr lang="en-US" sz="1700">
                <a:solidFill>
                  <a:srgbClr val="000000"/>
                </a:solidFill>
                <a:latin typeface="TT Fors"/>
                <a:ea typeface="TT Fors"/>
                <a:cs typeface="TT Fors"/>
                <a:sym typeface="TT Fors"/>
              </a:rPr>
              <a:t>Không thực hiện full active scan (chỉ baseline để tránh phá hủy dữ liệu hoặc chậm pipeline).</a:t>
            </a:r>
          </a:p>
        </p:txBody>
      </p:sp>
      <p:sp>
        <p:nvSpPr>
          <p:cNvPr id="15" name="TextBox 15"/>
          <p:cNvSpPr txBox="1"/>
          <p:nvPr/>
        </p:nvSpPr>
        <p:spPr>
          <a:xfrm>
            <a:off x="997595" y="8562339"/>
            <a:ext cx="8875663" cy="880745"/>
          </a:xfrm>
          <a:prstGeom prst="rect">
            <a:avLst/>
          </a:prstGeom>
        </p:spPr>
        <p:txBody>
          <a:bodyPr lIns="0" tIns="0" rIns="0" bIns="0" rtlCol="0" anchor="t">
            <a:spAutoFit/>
          </a:bodyPr>
          <a:lstStyle/>
          <a:p>
            <a:pPr algn="just">
              <a:lnSpc>
                <a:spcPts val="2380"/>
              </a:lnSpc>
              <a:spcBef>
                <a:spcPct val="0"/>
              </a:spcBef>
            </a:pPr>
            <a:r>
              <a:rPr lang="en-US" sz="1700">
                <a:solidFill>
                  <a:srgbClr val="000000"/>
                </a:solidFill>
                <a:latin typeface="TT Fors"/>
                <a:ea typeface="TT Fors"/>
                <a:cs typeface="TT Fors"/>
                <a:sym typeface="TT Fors"/>
              </a:rPr>
              <a:t>Hệ thống dưới kiểm thử (System Under Test - SUT) bao gồm:</a:t>
            </a:r>
          </a:p>
          <a:p>
            <a:pPr algn="just">
              <a:lnSpc>
                <a:spcPts val="2380"/>
              </a:lnSpc>
              <a:spcBef>
                <a:spcPct val="0"/>
              </a:spcBef>
            </a:pPr>
            <a:r>
              <a:rPr lang="en-US" sz="1700">
                <a:solidFill>
                  <a:srgbClr val="000000"/>
                </a:solidFill>
                <a:latin typeface="TT Fors"/>
                <a:ea typeface="TT Fors"/>
                <a:cs typeface="TT Fors"/>
                <a:sym typeface="TT Fors"/>
              </a:rPr>
              <a:t>Mã nguồn ứng dụng web (các Class/Method xử lý input, authentication, authorization...).</a:t>
            </a:r>
          </a:p>
          <a:p>
            <a:pPr algn="just">
              <a:lnSpc>
                <a:spcPts val="2380"/>
              </a:lnSpc>
              <a:spcBef>
                <a:spcPct val="0"/>
              </a:spcBef>
            </a:pPr>
            <a:r>
              <a:rPr lang="en-US" sz="1700">
                <a:solidFill>
                  <a:srgbClr val="000000"/>
                </a:solidFill>
                <a:latin typeface="TT Fors"/>
                <a:ea typeface="TT Fors"/>
                <a:cs typeface="TT Fors"/>
                <a:sym typeface="TT Fors"/>
              </a:rPr>
              <a:t>Mã pipeline CI/CD (Jenkinsfile, .github/workflows/*.yml, shell script chạy ZAP baseline).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a:off x="3067021" y="2575762"/>
            <a:ext cx="4612126" cy="6010328"/>
          </a:xfrm>
          <a:custGeom>
            <a:avLst/>
            <a:gdLst/>
            <a:ahLst/>
            <a:cxnLst/>
            <a:rect l="l" t="t" r="r" b="b"/>
            <a:pathLst>
              <a:path w="4612126" h="6010328">
                <a:moveTo>
                  <a:pt x="0" y="0"/>
                </a:moveTo>
                <a:lnTo>
                  <a:pt x="4612126" y="0"/>
                </a:lnTo>
                <a:lnTo>
                  <a:pt x="4612126" y="6010328"/>
                </a:lnTo>
                <a:lnTo>
                  <a:pt x="0" y="6010328"/>
                </a:lnTo>
                <a:lnTo>
                  <a:pt x="0" y="0"/>
                </a:lnTo>
                <a:close/>
              </a:path>
            </a:pathLst>
          </a:custGeom>
          <a:blipFill>
            <a:blip r:embed="rId2"/>
            <a:stretch>
              <a:fillRect/>
            </a:stretch>
          </a:blipFill>
        </p:spPr>
      </p:sp>
      <p:sp>
        <p:nvSpPr>
          <p:cNvPr id="3" name="Freeform 3"/>
          <p:cNvSpPr/>
          <p:nvPr/>
        </p:nvSpPr>
        <p:spPr>
          <a:xfrm>
            <a:off x="8551950" y="2575762"/>
            <a:ext cx="6558377" cy="2230923"/>
          </a:xfrm>
          <a:custGeom>
            <a:avLst/>
            <a:gdLst/>
            <a:ahLst/>
            <a:cxnLst/>
            <a:rect l="l" t="t" r="r" b="b"/>
            <a:pathLst>
              <a:path w="6558377" h="2230923">
                <a:moveTo>
                  <a:pt x="0" y="0"/>
                </a:moveTo>
                <a:lnTo>
                  <a:pt x="6558376" y="0"/>
                </a:lnTo>
                <a:lnTo>
                  <a:pt x="6558376" y="2230923"/>
                </a:lnTo>
                <a:lnTo>
                  <a:pt x="0" y="2230923"/>
                </a:lnTo>
                <a:lnTo>
                  <a:pt x="0" y="0"/>
                </a:lnTo>
                <a:close/>
              </a:path>
            </a:pathLst>
          </a:custGeom>
          <a:blipFill>
            <a:blip r:embed="rId3"/>
            <a:stretch>
              <a:fillRect/>
            </a:stretch>
          </a:blipFill>
        </p:spPr>
      </p:sp>
      <p:sp>
        <p:nvSpPr>
          <p:cNvPr id="4" name="TextBox 4"/>
          <p:cNvSpPr txBox="1"/>
          <p:nvPr/>
        </p:nvSpPr>
        <p:spPr>
          <a:xfrm>
            <a:off x="4282678" y="570548"/>
            <a:ext cx="9722644" cy="8210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TT Fors"/>
                <a:ea typeface="TT Fors"/>
                <a:cs typeface="TT Fors"/>
                <a:sym typeface="TT Fors"/>
              </a:rPr>
              <a:t>CHƯƠNG 3: KẾ HOẠCH KIỂM THỬ</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a:off x="10274034" y="2983729"/>
            <a:ext cx="6562923" cy="5022787"/>
          </a:xfrm>
          <a:custGeom>
            <a:avLst/>
            <a:gdLst/>
            <a:ahLst/>
            <a:cxnLst/>
            <a:rect l="l" t="t" r="r" b="b"/>
            <a:pathLst>
              <a:path w="6562923" h="5022787">
                <a:moveTo>
                  <a:pt x="0" y="0"/>
                </a:moveTo>
                <a:lnTo>
                  <a:pt x="6562923" y="0"/>
                </a:lnTo>
                <a:lnTo>
                  <a:pt x="6562923" y="5022787"/>
                </a:lnTo>
                <a:lnTo>
                  <a:pt x="0" y="5022787"/>
                </a:lnTo>
                <a:lnTo>
                  <a:pt x="0" y="0"/>
                </a:lnTo>
                <a:close/>
              </a:path>
            </a:pathLst>
          </a:custGeom>
          <a:blipFill>
            <a:blip r:embed="rId2"/>
            <a:stretch>
              <a:fillRect/>
            </a:stretch>
          </a:blipFill>
        </p:spPr>
      </p:sp>
      <p:sp>
        <p:nvSpPr>
          <p:cNvPr id="3" name="TextBox 3"/>
          <p:cNvSpPr txBox="1"/>
          <p:nvPr/>
        </p:nvSpPr>
        <p:spPr>
          <a:xfrm>
            <a:off x="4164434" y="801510"/>
            <a:ext cx="9959132" cy="8210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TT Fors"/>
                <a:ea typeface="TT Fors"/>
                <a:cs typeface="TT Fors"/>
                <a:sym typeface="TT Fors"/>
              </a:rPr>
              <a:t>CHƯƠNG 4: THIẾT KẾ CA KIỂM THỬ</a:t>
            </a:r>
          </a:p>
        </p:txBody>
      </p:sp>
      <p:sp>
        <p:nvSpPr>
          <p:cNvPr id="4" name="TextBox 4"/>
          <p:cNvSpPr txBox="1"/>
          <p:nvPr/>
        </p:nvSpPr>
        <p:spPr>
          <a:xfrm>
            <a:off x="1028938" y="2910038"/>
            <a:ext cx="7029038" cy="3699510"/>
          </a:xfrm>
          <a:prstGeom prst="rect">
            <a:avLst/>
          </a:prstGeom>
        </p:spPr>
        <p:txBody>
          <a:bodyPr lIns="0" tIns="0" rIns="0" bIns="0" rtlCol="0" anchor="t">
            <a:spAutoFit/>
          </a:bodyPr>
          <a:lstStyle/>
          <a:p>
            <a:pPr algn="just">
              <a:lnSpc>
                <a:spcPts val="2940"/>
              </a:lnSpc>
              <a:spcBef>
                <a:spcPct val="0"/>
              </a:spcBef>
            </a:pPr>
            <a:r>
              <a:rPr lang="en-US" sz="2100" spc="-63">
                <a:solidFill>
                  <a:srgbClr val="000000"/>
                </a:solidFill>
                <a:latin typeface="TT Fors"/>
                <a:ea typeface="TT Fors"/>
                <a:cs typeface="TT Fors"/>
                <a:sym typeface="TT Fors"/>
              </a:rPr>
              <a:t>Độ bao phủ đường dẫn = (Số đường dẫn đã được thực thi) / (Tổng số đường dẫn) × 100%</a:t>
            </a:r>
          </a:p>
          <a:p>
            <a:pPr algn="just">
              <a:lnSpc>
                <a:spcPts val="2940"/>
              </a:lnSpc>
              <a:spcBef>
                <a:spcPct val="0"/>
              </a:spcBef>
            </a:pPr>
            <a:endParaRPr lang="en-US" sz="2100" spc="-63">
              <a:solidFill>
                <a:srgbClr val="000000"/>
              </a:solidFill>
              <a:latin typeface="TT Fors"/>
              <a:ea typeface="TT Fors"/>
              <a:cs typeface="TT Fors"/>
              <a:sym typeface="TT Fors"/>
            </a:endParaRPr>
          </a:p>
          <a:p>
            <a:pPr algn="just">
              <a:lnSpc>
                <a:spcPts val="2940"/>
              </a:lnSpc>
              <a:spcBef>
                <a:spcPct val="0"/>
              </a:spcBef>
            </a:pPr>
            <a:r>
              <a:rPr lang="en-US" sz="2100" spc="-63">
                <a:solidFill>
                  <a:srgbClr val="000000"/>
                </a:solidFill>
                <a:latin typeface="TT Fors"/>
                <a:ea typeface="TT Fors"/>
                <a:cs typeface="TT Fors"/>
                <a:sym typeface="TT Fors"/>
              </a:rPr>
              <a:t>Tổng số đường dẫn độc lập tối thiểu được tính theo Cyclomatic Complexity (McCabe): V(G) = E - N + 2</a:t>
            </a:r>
          </a:p>
          <a:p>
            <a:pPr marL="453390" lvl="1" indent="-226695" algn="just">
              <a:lnSpc>
                <a:spcPts val="2940"/>
              </a:lnSpc>
              <a:spcBef>
                <a:spcPct val="0"/>
              </a:spcBef>
              <a:buFont typeface="Arial"/>
              <a:buChar char="•"/>
            </a:pPr>
            <a:r>
              <a:rPr lang="en-US" sz="2100" spc="-63">
                <a:solidFill>
                  <a:srgbClr val="000000"/>
                </a:solidFill>
                <a:latin typeface="TT Fors"/>
                <a:ea typeface="TT Fors"/>
                <a:cs typeface="TT Fors"/>
                <a:sym typeface="TT Fors"/>
              </a:rPr>
              <a:t>E: Số cạnh (Edges) trong đồ thị luồng điều khiển.</a:t>
            </a:r>
          </a:p>
          <a:p>
            <a:pPr marL="453390" lvl="1" indent="-226695" algn="just">
              <a:lnSpc>
                <a:spcPts val="2940"/>
              </a:lnSpc>
              <a:spcBef>
                <a:spcPct val="0"/>
              </a:spcBef>
              <a:buFont typeface="Arial"/>
              <a:buChar char="•"/>
            </a:pPr>
            <a:r>
              <a:rPr lang="en-US" sz="2100" spc="-63">
                <a:solidFill>
                  <a:srgbClr val="000000"/>
                </a:solidFill>
                <a:latin typeface="TT Fors"/>
                <a:ea typeface="TT Fors"/>
                <a:cs typeface="TT Fors"/>
                <a:sym typeface="TT Fors"/>
              </a:rPr>
              <a:t>N: Số nút (Nodes).</a:t>
            </a:r>
          </a:p>
          <a:p>
            <a:pPr marL="453390" lvl="1" indent="-226695" algn="just">
              <a:lnSpc>
                <a:spcPts val="2940"/>
              </a:lnSpc>
              <a:spcBef>
                <a:spcPct val="0"/>
              </a:spcBef>
              <a:buFont typeface="Arial"/>
              <a:buChar char="•"/>
            </a:pPr>
            <a:r>
              <a:rPr lang="en-US" sz="2100" spc="-63">
                <a:solidFill>
                  <a:srgbClr val="000000"/>
                </a:solidFill>
                <a:latin typeface="TT Fors"/>
                <a:ea typeface="TT Fors"/>
                <a:cs typeface="TT Fors"/>
                <a:sym typeface="TT Fors"/>
              </a:rPr>
              <a:t>(Công thức này áp dụng cho chương trình có 1 điểm vào/ra; nếu nhiều thành phần thì +2P).</a:t>
            </a:r>
          </a:p>
          <a:p>
            <a:pPr algn="just">
              <a:lnSpc>
                <a:spcPts val="2940"/>
              </a:lnSpc>
              <a:spcBef>
                <a:spcPct val="0"/>
              </a:spcBef>
            </a:pPr>
            <a:endParaRPr lang="en-US" sz="2100" spc="-63">
              <a:solidFill>
                <a:srgbClr val="000000"/>
              </a:solidFill>
              <a:latin typeface="TT Fors"/>
              <a:ea typeface="TT Fors"/>
              <a:cs typeface="TT Fors"/>
              <a:sym typeface="TT Fors"/>
            </a:endParaRPr>
          </a:p>
        </p:txBody>
      </p:sp>
      <p:sp>
        <p:nvSpPr>
          <p:cNvPr id="5" name="TextBox 5"/>
          <p:cNvSpPr txBox="1"/>
          <p:nvPr/>
        </p:nvSpPr>
        <p:spPr>
          <a:xfrm>
            <a:off x="1028700" y="2325435"/>
            <a:ext cx="2781300" cy="362600"/>
          </a:xfrm>
          <a:prstGeom prst="rect">
            <a:avLst/>
          </a:prstGeom>
        </p:spPr>
        <p:txBody>
          <a:bodyPr wrap="square" lIns="0" tIns="0" rIns="0" bIns="0" rtlCol="0" anchor="t">
            <a:spAutoFit/>
          </a:bodyPr>
          <a:lstStyle/>
          <a:p>
            <a:pPr algn="ctr">
              <a:lnSpc>
                <a:spcPts val="2799"/>
              </a:lnSpc>
              <a:spcBef>
                <a:spcPct val="0"/>
              </a:spcBef>
            </a:pPr>
            <a:r>
              <a:rPr lang="en-US" sz="2799" spc="-83" dirty="0">
                <a:solidFill>
                  <a:srgbClr val="000000"/>
                </a:solidFill>
                <a:latin typeface="ITC Avant Garde Gothic"/>
                <a:ea typeface="ITC Avant Garde Gothic"/>
                <a:cs typeface="ITC Avant Garde Gothic"/>
                <a:sym typeface="ITC Avant Garde Gothic"/>
              </a:rPr>
              <a:t>Path Coverage</a:t>
            </a:r>
          </a:p>
        </p:txBody>
      </p:sp>
      <p:sp>
        <p:nvSpPr>
          <p:cNvPr id="6" name="TextBox 6"/>
          <p:cNvSpPr txBox="1"/>
          <p:nvPr/>
        </p:nvSpPr>
        <p:spPr>
          <a:xfrm>
            <a:off x="9495383" y="2268285"/>
            <a:ext cx="7954417" cy="481330"/>
          </a:xfrm>
          <a:prstGeom prst="rect">
            <a:avLst/>
          </a:prstGeom>
        </p:spPr>
        <p:txBody>
          <a:bodyPr wrap="square" lIns="0" tIns="0" rIns="0" bIns="0" rtlCol="0" anchor="t">
            <a:spAutoFit/>
          </a:bodyPr>
          <a:lstStyle/>
          <a:p>
            <a:pPr algn="ctr">
              <a:lnSpc>
                <a:spcPts val="3919"/>
              </a:lnSpc>
              <a:spcBef>
                <a:spcPct val="0"/>
              </a:spcBef>
            </a:pPr>
            <a:r>
              <a:rPr lang="en-US" sz="2799" dirty="0">
                <a:solidFill>
                  <a:srgbClr val="000000"/>
                </a:solidFill>
                <a:latin typeface="TT Fors"/>
                <a:ea typeface="TT Fors"/>
                <a:cs typeface="TT Fors"/>
                <a:sym typeface="TT Fors"/>
              </a:rPr>
              <a:t>Loop Boundary Testing (</a:t>
            </a:r>
            <a:r>
              <a:rPr lang="en-US" sz="2799" dirty="0" err="1">
                <a:solidFill>
                  <a:srgbClr val="000000"/>
                </a:solidFill>
                <a:latin typeface="TT Fors"/>
                <a:ea typeface="TT Fors"/>
                <a:cs typeface="TT Fors"/>
                <a:sym typeface="TT Fors"/>
              </a:rPr>
              <a:t>Kiểm</a:t>
            </a:r>
            <a:r>
              <a:rPr lang="en-US" sz="2799" dirty="0">
                <a:solidFill>
                  <a:srgbClr val="000000"/>
                </a:solidFill>
                <a:latin typeface="TT Fors"/>
                <a:ea typeface="TT Fors"/>
                <a:cs typeface="TT Fors"/>
                <a:sym typeface="TT Fors"/>
              </a:rPr>
              <a:t> </a:t>
            </a:r>
            <a:r>
              <a:rPr lang="en-US" sz="2799" dirty="0" err="1">
                <a:solidFill>
                  <a:srgbClr val="000000"/>
                </a:solidFill>
                <a:latin typeface="TT Fors"/>
                <a:ea typeface="TT Fors"/>
                <a:cs typeface="TT Fors"/>
                <a:sym typeface="TT Fors"/>
              </a:rPr>
              <a:t>thử</a:t>
            </a:r>
            <a:r>
              <a:rPr lang="en-US" sz="2799" dirty="0">
                <a:solidFill>
                  <a:srgbClr val="000000"/>
                </a:solidFill>
                <a:latin typeface="TT Fors"/>
                <a:ea typeface="TT Fors"/>
                <a:cs typeface="TT Fors"/>
                <a:sym typeface="TT Fors"/>
              </a:rPr>
              <a:t> </a:t>
            </a:r>
            <a:r>
              <a:rPr lang="en-US" sz="2799" dirty="0" err="1">
                <a:solidFill>
                  <a:srgbClr val="000000"/>
                </a:solidFill>
                <a:latin typeface="TT Fors"/>
                <a:ea typeface="TT Fors"/>
                <a:cs typeface="TT Fors"/>
                <a:sym typeface="TT Fors"/>
              </a:rPr>
              <a:t>biên</a:t>
            </a:r>
            <a:r>
              <a:rPr lang="en-US" sz="2799" dirty="0">
                <a:solidFill>
                  <a:srgbClr val="000000"/>
                </a:solidFill>
                <a:latin typeface="TT Fors"/>
                <a:ea typeface="TT Fors"/>
                <a:cs typeface="TT Fors"/>
                <a:sym typeface="TT Fors"/>
              </a:rPr>
              <a:t> </a:t>
            </a:r>
            <a:r>
              <a:rPr lang="en-US" sz="2799" dirty="0" err="1">
                <a:solidFill>
                  <a:srgbClr val="000000"/>
                </a:solidFill>
                <a:latin typeface="TT Fors"/>
                <a:ea typeface="TT Fors"/>
                <a:cs typeface="TT Fors"/>
                <a:sym typeface="TT Fors"/>
              </a:rPr>
              <a:t>vòng</a:t>
            </a:r>
            <a:r>
              <a:rPr lang="en-US" sz="2799" dirty="0">
                <a:solidFill>
                  <a:srgbClr val="000000"/>
                </a:solidFill>
                <a:latin typeface="TT Fors"/>
                <a:ea typeface="TT Fors"/>
                <a:cs typeface="TT Fors"/>
                <a:sym typeface="TT Fors"/>
              </a:rPr>
              <a:t> </a:t>
            </a:r>
            <a:r>
              <a:rPr lang="en-US" sz="2799" dirty="0" err="1">
                <a:solidFill>
                  <a:srgbClr val="000000"/>
                </a:solidFill>
                <a:latin typeface="TT Fors"/>
                <a:ea typeface="TT Fors"/>
                <a:cs typeface="TT Fors"/>
                <a:sym typeface="TT Fors"/>
              </a:rPr>
              <a:t>lặp</a:t>
            </a:r>
            <a:r>
              <a:rPr lang="en-US" sz="2799" dirty="0">
                <a:solidFill>
                  <a:srgbClr val="000000"/>
                </a:solidFill>
                <a:latin typeface="TT Fors"/>
                <a:ea typeface="TT Fors"/>
                <a:cs typeface="TT Fors"/>
                <a:sym typeface="TT For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a:off x="2129373" y="3253995"/>
            <a:ext cx="5101459" cy="6356958"/>
          </a:xfrm>
          <a:custGeom>
            <a:avLst/>
            <a:gdLst/>
            <a:ahLst/>
            <a:cxnLst/>
            <a:rect l="l" t="t" r="r" b="b"/>
            <a:pathLst>
              <a:path w="5101459" h="6356958">
                <a:moveTo>
                  <a:pt x="0" y="0"/>
                </a:moveTo>
                <a:lnTo>
                  <a:pt x="5101459" y="0"/>
                </a:lnTo>
                <a:lnTo>
                  <a:pt x="5101459" y="6356958"/>
                </a:lnTo>
                <a:lnTo>
                  <a:pt x="0" y="6356958"/>
                </a:lnTo>
                <a:lnTo>
                  <a:pt x="0" y="0"/>
                </a:lnTo>
                <a:close/>
              </a:path>
            </a:pathLst>
          </a:custGeom>
          <a:blipFill>
            <a:blip r:embed="rId2"/>
            <a:stretch>
              <a:fillRect/>
            </a:stretch>
          </a:blipFill>
        </p:spPr>
      </p:sp>
      <p:sp>
        <p:nvSpPr>
          <p:cNvPr id="3" name="Freeform 3"/>
          <p:cNvSpPr/>
          <p:nvPr/>
        </p:nvSpPr>
        <p:spPr>
          <a:xfrm>
            <a:off x="9266256" y="826800"/>
            <a:ext cx="7791491" cy="4176989"/>
          </a:xfrm>
          <a:custGeom>
            <a:avLst/>
            <a:gdLst/>
            <a:ahLst/>
            <a:cxnLst/>
            <a:rect l="l" t="t" r="r" b="b"/>
            <a:pathLst>
              <a:path w="7791491" h="4176989">
                <a:moveTo>
                  <a:pt x="0" y="0"/>
                </a:moveTo>
                <a:lnTo>
                  <a:pt x="7791492" y="0"/>
                </a:lnTo>
                <a:lnTo>
                  <a:pt x="7791492" y="4176989"/>
                </a:lnTo>
                <a:lnTo>
                  <a:pt x="0" y="4176989"/>
                </a:lnTo>
                <a:lnTo>
                  <a:pt x="0" y="0"/>
                </a:lnTo>
                <a:close/>
              </a:path>
            </a:pathLst>
          </a:custGeom>
          <a:blipFill>
            <a:blip r:embed="rId3"/>
            <a:stretch>
              <a:fillRect/>
            </a:stretch>
          </a:blipFill>
        </p:spPr>
      </p:sp>
      <p:sp>
        <p:nvSpPr>
          <p:cNvPr id="5" name="TextBox 5"/>
          <p:cNvSpPr txBox="1"/>
          <p:nvPr/>
        </p:nvSpPr>
        <p:spPr>
          <a:xfrm>
            <a:off x="1028700" y="990600"/>
            <a:ext cx="7552412" cy="156400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TT Fors"/>
                <a:ea typeface="TT Fors"/>
                <a:cs typeface="TT Fors"/>
                <a:sym typeface="TT Fors"/>
              </a:rPr>
              <a:t>Tính Cyclomatic Complexity (V(G))</a:t>
            </a:r>
          </a:p>
          <a:p>
            <a:pPr algn="just">
              <a:lnSpc>
                <a:spcPts val="2520"/>
              </a:lnSpc>
              <a:spcBef>
                <a:spcPct val="0"/>
              </a:spcBef>
            </a:pPr>
            <a:r>
              <a:rPr lang="en-US" sz="1800">
                <a:solidFill>
                  <a:srgbClr val="000000"/>
                </a:solidFill>
                <a:latin typeface="TT Fors"/>
                <a:ea typeface="TT Fors"/>
                <a:cs typeface="TT Fors"/>
                <a:sym typeface="TT Fors"/>
              </a:rPr>
              <a:t>Số nút (Nodes) N = 8</a:t>
            </a:r>
          </a:p>
          <a:p>
            <a:pPr algn="just">
              <a:lnSpc>
                <a:spcPts val="2520"/>
              </a:lnSpc>
              <a:spcBef>
                <a:spcPct val="0"/>
              </a:spcBef>
            </a:pPr>
            <a:r>
              <a:rPr lang="en-US" sz="1800">
                <a:solidFill>
                  <a:srgbClr val="000000"/>
                </a:solidFill>
                <a:latin typeface="TT Fors"/>
                <a:ea typeface="TT Fors"/>
                <a:cs typeface="TT Fors"/>
                <a:sym typeface="TT Fors"/>
              </a:rPr>
              <a:t>Số cạnh (Edges) E = 10</a:t>
            </a:r>
          </a:p>
          <a:p>
            <a:pPr algn="just">
              <a:lnSpc>
                <a:spcPts val="2520"/>
              </a:lnSpc>
              <a:spcBef>
                <a:spcPct val="0"/>
              </a:spcBef>
            </a:pPr>
            <a:r>
              <a:rPr lang="en-US" sz="1800">
                <a:solidFill>
                  <a:srgbClr val="000000"/>
                </a:solidFill>
                <a:latin typeface="TT Fors"/>
                <a:ea typeface="TT Fors"/>
                <a:cs typeface="TT Fors"/>
                <a:sym typeface="TT Fors"/>
              </a:rPr>
              <a:t>V(G) = E - N + 2 = 10 - 8 + 2 = 4 → Có 4 đường dẫn độc lập (basis paths) cần kiểm thử để đạt Path Coverage tối thiểu.</a:t>
            </a:r>
          </a:p>
        </p:txBody>
      </p:sp>
      <p:pic>
        <p:nvPicPr>
          <p:cNvPr id="7" name="Picture 6">
            <a:extLst>
              <a:ext uri="{FF2B5EF4-FFF2-40B4-BE49-F238E27FC236}">
                <a16:creationId xmlns:a16="http://schemas.microsoft.com/office/drawing/2014/main" id="{8C1272B5-4C85-4114-9B29-9B35A4857C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6255" y="5143500"/>
            <a:ext cx="6892371" cy="48219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14744700" y="7829550"/>
            <a:ext cx="4846643" cy="1791955"/>
            <a:chOff x="0" y="0"/>
            <a:chExt cx="6462190" cy="2389273"/>
          </a:xfrm>
        </p:grpSpPr>
        <p:sp>
          <p:nvSpPr>
            <p:cNvPr id="3" name="Freeform 3"/>
            <p:cNvSpPr/>
            <p:nvPr/>
          </p:nvSpPr>
          <p:spPr>
            <a:xfrm>
              <a:off x="0"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036459"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072917"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6" name="Group 6"/>
          <p:cNvGrpSpPr/>
          <p:nvPr/>
        </p:nvGrpSpPr>
        <p:grpSpPr>
          <a:xfrm>
            <a:off x="4963256" y="4242746"/>
            <a:ext cx="11201400" cy="2918433"/>
            <a:chOff x="0" y="0"/>
            <a:chExt cx="14935200" cy="3891244"/>
          </a:xfrm>
        </p:grpSpPr>
        <p:sp>
          <p:nvSpPr>
            <p:cNvPr id="7" name="TextBox 7"/>
            <p:cNvSpPr txBox="1"/>
            <p:nvPr/>
          </p:nvSpPr>
          <p:spPr>
            <a:xfrm>
              <a:off x="0" y="-9525"/>
              <a:ext cx="14935200" cy="1626659"/>
            </a:xfrm>
            <a:prstGeom prst="rect">
              <a:avLst/>
            </a:prstGeom>
          </p:spPr>
          <p:txBody>
            <a:bodyPr lIns="0" tIns="0" rIns="0" bIns="0" rtlCol="0" anchor="t">
              <a:spAutoFit/>
            </a:bodyPr>
            <a:lstStyle/>
            <a:p>
              <a:pPr marL="0" lvl="0" indent="0" algn="l">
                <a:lnSpc>
                  <a:spcPts val="8000"/>
                </a:lnSpc>
                <a:spcBef>
                  <a:spcPct val="0"/>
                </a:spcBef>
              </a:pPr>
              <a:endParaRPr/>
            </a:p>
          </p:txBody>
        </p:sp>
        <p:sp>
          <p:nvSpPr>
            <p:cNvPr id="8" name="TextBox 8"/>
            <p:cNvSpPr txBox="1"/>
            <p:nvPr/>
          </p:nvSpPr>
          <p:spPr>
            <a:xfrm>
              <a:off x="0" y="3428964"/>
              <a:ext cx="11099800" cy="462280"/>
            </a:xfrm>
            <a:prstGeom prst="rect">
              <a:avLst/>
            </a:prstGeom>
          </p:spPr>
          <p:txBody>
            <a:bodyPr lIns="0" tIns="0" rIns="0" bIns="0" rtlCol="0" anchor="t">
              <a:spAutoFit/>
            </a:bodyPr>
            <a:lstStyle/>
            <a:p>
              <a:pPr marL="0" lvl="0" indent="0" algn="l">
                <a:lnSpc>
                  <a:spcPts val="2940"/>
                </a:lnSpc>
              </a:pPr>
              <a:endParaRPr/>
            </a:p>
          </p:txBody>
        </p:sp>
        <p:sp>
          <p:nvSpPr>
            <p:cNvPr id="9" name="TextBox 9"/>
            <p:cNvSpPr txBox="1"/>
            <p:nvPr/>
          </p:nvSpPr>
          <p:spPr>
            <a:xfrm>
              <a:off x="0" y="2235200"/>
              <a:ext cx="13017500" cy="647700"/>
            </a:xfrm>
            <a:prstGeom prst="rect">
              <a:avLst/>
            </a:prstGeom>
          </p:spPr>
          <p:txBody>
            <a:bodyPr lIns="0" tIns="0" rIns="0" bIns="0" rtlCol="0" anchor="t">
              <a:spAutoFit/>
            </a:bodyPr>
            <a:lstStyle/>
            <a:p>
              <a:pPr marL="0" lvl="0" indent="0" algn="l">
                <a:lnSpc>
                  <a:spcPts val="3839"/>
                </a:lnSpc>
                <a:spcBef>
                  <a:spcPct val="0"/>
                </a:spcBef>
              </a:pPr>
              <a:endParaRPr/>
            </a:p>
          </p:txBody>
        </p:sp>
      </p:grpSp>
      <p:sp>
        <p:nvSpPr>
          <p:cNvPr id="10" name="Freeform 10"/>
          <p:cNvSpPr/>
          <p:nvPr/>
        </p:nvSpPr>
        <p:spPr>
          <a:xfrm>
            <a:off x="666750" y="1419348"/>
            <a:ext cx="11301259" cy="2048353"/>
          </a:xfrm>
          <a:custGeom>
            <a:avLst/>
            <a:gdLst/>
            <a:ahLst/>
            <a:cxnLst/>
            <a:rect l="l" t="t" r="r" b="b"/>
            <a:pathLst>
              <a:path w="11301259" h="2048353">
                <a:moveTo>
                  <a:pt x="0" y="0"/>
                </a:moveTo>
                <a:lnTo>
                  <a:pt x="11301259" y="0"/>
                </a:lnTo>
                <a:lnTo>
                  <a:pt x="11301259" y="2048353"/>
                </a:lnTo>
                <a:lnTo>
                  <a:pt x="0" y="2048353"/>
                </a:lnTo>
                <a:lnTo>
                  <a:pt x="0" y="0"/>
                </a:lnTo>
                <a:close/>
              </a:path>
            </a:pathLst>
          </a:custGeom>
          <a:blipFill>
            <a:blip r:embed="rId4"/>
            <a:stretch>
              <a:fillRect/>
            </a:stretch>
          </a:blipFill>
        </p:spPr>
      </p:sp>
      <p:sp>
        <p:nvSpPr>
          <p:cNvPr id="11" name="Freeform 11"/>
          <p:cNvSpPr/>
          <p:nvPr/>
        </p:nvSpPr>
        <p:spPr>
          <a:xfrm>
            <a:off x="666750" y="3716716"/>
            <a:ext cx="11301259" cy="1426784"/>
          </a:xfrm>
          <a:custGeom>
            <a:avLst/>
            <a:gdLst/>
            <a:ahLst/>
            <a:cxnLst/>
            <a:rect l="l" t="t" r="r" b="b"/>
            <a:pathLst>
              <a:path w="11301259" h="1426784">
                <a:moveTo>
                  <a:pt x="0" y="0"/>
                </a:moveTo>
                <a:lnTo>
                  <a:pt x="11301259" y="0"/>
                </a:lnTo>
                <a:lnTo>
                  <a:pt x="11301259" y="1426784"/>
                </a:lnTo>
                <a:lnTo>
                  <a:pt x="0" y="1426784"/>
                </a:lnTo>
                <a:lnTo>
                  <a:pt x="0" y="0"/>
                </a:lnTo>
                <a:close/>
              </a:path>
            </a:pathLst>
          </a:custGeom>
          <a:blipFill>
            <a:blip r:embed="rId5"/>
            <a:stretch>
              <a:fillRect/>
            </a:stretch>
          </a:blipFill>
        </p:spPr>
      </p:sp>
      <p:sp>
        <p:nvSpPr>
          <p:cNvPr id="12" name="Freeform 12"/>
          <p:cNvSpPr/>
          <p:nvPr/>
        </p:nvSpPr>
        <p:spPr>
          <a:xfrm>
            <a:off x="666750" y="5211712"/>
            <a:ext cx="11301259" cy="1949467"/>
          </a:xfrm>
          <a:custGeom>
            <a:avLst/>
            <a:gdLst/>
            <a:ahLst/>
            <a:cxnLst/>
            <a:rect l="l" t="t" r="r" b="b"/>
            <a:pathLst>
              <a:path w="11301259" h="1949467">
                <a:moveTo>
                  <a:pt x="0" y="0"/>
                </a:moveTo>
                <a:lnTo>
                  <a:pt x="11301259" y="0"/>
                </a:lnTo>
                <a:lnTo>
                  <a:pt x="11301259" y="1949467"/>
                </a:lnTo>
                <a:lnTo>
                  <a:pt x="0" y="1949467"/>
                </a:lnTo>
                <a:lnTo>
                  <a:pt x="0" y="0"/>
                </a:lnTo>
                <a:close/>
              </a:path>
            </a:pathLst>
          </a:custGeom>
          <a:blipFill>
            <a:blip r:embed="rId6"/>
            <a:stretch>
              <a:fillRect/>
            </a:stretch>
          </a:blipFill>
        </p:spPr>
      </p:sp>
      <p:sp>
        <p:nvSpPr>
          <p:cNvPr id="13" name="Freeform 13"/>
          <p:cNvSpPr/>
          <p:nvPr/>
        </p:nvSpPr>
        <p:spPr>
          <a:xfrm>
            <a:off x="666750" y="7227854"/>
            <a:ext cx="11301259" cy="2175492"/>
          </a:xfrm>
          <a:custGeom>
            <a:avLst/>
            <a:gdLst/>
            <a:ahLst/>
            <a:cxnLst/>
            <a:rect l="l" t="t" r="r" b="b"/>
            <a:pathLst>
              <a:path w="11301259" h="2175492">
                <a:moveTo>
                  <a:pt x="0" y="0"/>
                </a:moveTo>
                <a:lnTo>
                  <a:pt x="11301259" y="0"/>
                </a:lnTo>
                <a:lnTo>
                  <a:pt x="11301259" y="2175493"/>
                </a:lnTo>
                <a:lnTo>
                  <a:pt x="0" y="2175493"/>
                </a:lnTo>
                <a:lnTo>
                  <a:pt x="0" y="0"/>
                </a:lnTo>
                <a:close/>
              </a:path>
            </a:pathLst>
          </a:custGeom>
          <a:blipFill>
            <a:blip r:embed="rId7"/>
            <a:stretch>
              <a:fillRect/>
            </a:stretch>
          </a:blipFill>
        </p:spPr>
      </p:sp>
      <p:grpSp>
        <p:nvGrpSpPr>
          <p:cNvPr id="14" name="Group 14"/>
          <p:cNvGrpSpPr/>
          <p:nvPr/>
        </p:nvGrpSpPr>
        <p:grpSpPr>
          <a:xfrm>
            <a:off x="666750" y="666750"/>
            <a:ext cx="11201400" cy="2244698"/>
            <a:chOff x="0" y="0"/>
            <a:chExt cx="14935200" cy="2992930"/>
          </a:xfrm>
        </p:grpSpPr>
        <p:sp>
          <p:nvSpPr>
            <p:cNvPr id="15" name="TextBox 15"/>
            <p:cNvSpPr txBox="1"/>
            <p:nvPr/>
          </p:nvSpPr>
          <p:spPr>
            <a:xfrm>
              <a:off x="0" y="0"/>
              <a:ext cx="14935200" cy="596899"/>
            </a:xfrm>
            <a:prstGeom prst="rect">
              <a:avLst/>
            </a:prstGeom>
          </p:spPr>
          <p:txBody>
            <a:bodyPr lIns="0" tIns="0" rIns="0" bIns="0" rtlCol="0" anchor="t">
              <a:spAutoFit/>
            </a:bodyPr>
            <a:lstStyle/>
            <a:p>
              <a:pPr marL="0" lvl="0" indent="0" algn="l">
                <a:lnSpc>
                  <a:spcPts val="2999"/>
                </a:lnSpc>
                <a:spcBef>
                  <a:spcPct val="0"/>
                </a:spcBef>
              </a:pPr>
              <a:r>
                <a:rPr lang="en-US" sz="2999" spc="-89">
                  <a:solidFill>
                    <a:srgbClr val="2E3C54"/>
                  </a:solidFill>
                  <a:latin typeface="ITC Avant Garde Gothic"/>
                  <a:ea typeface="ITC Avant Garde Gothic"/>
                  <a:cs typeface="ITC Avant Garde Gothic"/>
                  <a:sym typeface="ITC Avant Garde Gothic"/>
                </a:rPr>
                <a:t>Danh sách các testcase tiêu biểu </a:t>
              </a:r>
            </a:p>
          </p:txBody>
        </p:sp>
        <p:sp>
          <p:nvSpPr>
            <p:cNvPr id="16" name="TextBox 16"/>
            <p:cNvSpPr txBox="1"/>
            <p:nvPr/>
          </p:nvSpPr>
          <p:spPr>
            <a:xfrm>
              <a:off x="0" y="2348404"/>
              <a:ext cx="11099800" cy="644526"/>
            </a:xfrm>
            <a:prstGeom prst="rect">
              <a:avLst/>
            </a:prstGeom>
          </p:spPr>
          <p:txBody>
            <a:bodyPr lIns="0" tIns="0" rIns="0" bIns="0" rtlCol="0" anchor="t">
              <a:spAutoFit/>
            </a:bodyPr>
            <a:lstStyle/>
            <a:p>
              <a:pPr marL="0" lvl="0" indent="0" algn="l">
                <a:lnSpc>
                  <a:spcPts val="4199"/>
                </a:lnSpc>
              </a:pPr>
              <a:endParaRPr/>
            </a:p>
          </p:txBody>
        </p:sp>
        <p:sp>
          <p:nvSpPr>
            <p:cNvPr id="17" name="TextBox 17"/>
            <p:cNvSpPr txBox="1"/>
            <p:nvPr/>
          </p:nvSpPr>
          <p:spPr>
            <a:xfrm>
              <a:off x="0" y="1224490"/>
              <a:ext cx="13017500" cy="587375"/>
            </a:xfrm>
            <a:prstGeom prst="rect">
              <a:avLst/>
            </a:prstGeom>
          </p:spPr>
          <p:txBody>
            <a:bodyPr lIns="0" tIns="0" rIns="0" bIns="0" rtlCol="0" anchor="t">
              <a:spAutoFit/>
            </a:bodyPr>
            <a:lstStyle/>
            <a:p>
              <a:pPr marL="0" lvl="0" indent="0" algn="l">
                <a:lnSpc>
                  <a:spcPts val="359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a:off x="1028700" y="1880677"/>
            <a:ext cx="16230600" cy="1886807"/>
          </a:xfrm>
          <a:custGeom>
            <a:avLst/>
            <a:gdLst/>
            <a:ahLst/>
            <a:cxnLst/>
            <a:rect l="l" t="t" r="r" b="b"/>
            <a:pathLst>
              <a:path w="16230600" h="1886807">
                <a:moveTo>
                  <a:pt x="0" y="0"/>
                </a:moveTo>
                <a:lnTo>
                  <a:pt x="16230600" y="0"/>
                </a:lnTo>
                <a:lnTo>
                  <a:pt x="16230600" y="1886807"/>
                </a:lnTo>
                <a:lnTo>
                  <a:pt x="0" y="1886807"/>
                </a:lnTo>
                <a:lnTo>
                  <a:pt x="0" y="0"/>
                </a:lnTo>
                <a:close/>
              </a:path>
            </a:pathLst>
          </a:custGeom>
          <a:blipFill>
            <a:blip r:embed="rId2"/>
            <a:stretch>
              <a:fillRect/>
            </a:stretch>
          </a:blipFill>
        </p:spPr>
      </p:sp>
      <p:sp>
        <p:nvSpPr>
          <p:cNvPr id="3" name="Freeform 3"/>
          <p:cNvSpPr/>
          <p:nvPr/>
        </p:nvSpPr>
        <p:spPr>
          <a:xfrm>
            <a:off x="3610491" y="4053234"/>
            <a:ext cx="11301259" cy="5678883"/>
          </a:xfrm>
          <a:custGeom>
            <a:avLst/>
            <a:gdLst/>
            <a:ahLst/>
            <a:cxnLst/>
            <a:rect l="l" t="t" r="r" b="b"/>
            <a:pathLst>
              <a:path w="11301259" h="5678883">
                <a:moveTo>
                  <a:pt x="0" y="0"/>
                </a:moveTo>
                <a:lnTo>
                  <a:pt x="11301259" y="0"/>
                </a:lnTo>
                <a:lnTo>
                  <a:pt x="11301259" y="5678883"/>
                </a:lnTo>
                <a:lnTo>
                  <a:pt x="0" y="5678883"/>
                </a:lnTo>
                <a:lnTo>
                  <a:pt x="0" y="0"/>
                </a:lnTo>
                <a:close/>
              </a:path>
            </a:pathLst>
          </a:custGeom>
          <a:blipFill>
            <a:blip r:embed="rId3"/>
            <a:stretch>
              <a:fillRect/>
            </a:stretch>
          </a:blipFill>
        </p:spPr>
      </p:sp>
      <p:sp>
        <p:nvSpPr>
          <p:cNvPr id="4" name="TextBox 4"/>
          <p:cNvSpPr txBox="1"/>
          <p:nvPr/>
        </p:nvSpPr>
        <p:spPr>
          <a:xfrm>
            <a:off x="4469234" y="775315"/>
            <a:ext cx="9349532" cy="8210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TT Fors"/>
                <a:ea typeface="TT Fors"/>
                <a:cs typeface="TT Fors"/>
                <a:sym typeface="TT Fors"/>
              </a:rPr>
              <a:t>CHƯƠNG 5. THỰC THI KIỂM THỬ</a:t>
            </a:r>
          </a:p>
        </p:txBody>
      </p:sp>
      <p:sp>
        <p:nvSpPr>
          <p:cNvPr id="5" name="TextBox 5"/>
          <p:cNvSpPr txBox="1"/>
          <p:nvPr/>
        </p:nvSpPr>
        <p:spPr>
          <a:xfrm>
            <a:off x="15161761" y="4389120"/>
            <a:ext cx="2005608" cy="1470660"/>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T Fors"/>
                <a:ea typeface="TT Fors"/>
                <a:cs typeface="TT Fors"/>
                <a:sym typeface="TT Fors"/>
              </a:rPr>
              <a:t>Total: 55</a:t>
            </a:r>
          </a:p>
          <a:p>
            <a:pPr algn="ctr">
              <a:lnSpc>
                <a:spcPts val="2940"/>
              </a:lnSpc>
              <a:spcBef>
                <a:spcPct val="0"/>
              </a:spcBef>
            </a:pPr>
            <a:r>
              <a:rPr lang="en-US" sz="2100">
                <a:solidFill>
                  <a:srgbClr val="000000"/>
                </a:solidFill>
                <a:latin typeface="TT Fors"/>
                <a:ea typeface="TT Fors"/>
                <a:cs typeface="TT Fors"/>
                <a:sym typeface="TT Fors"/>
              </a:rPr>
              <a:t>Pass: 40</a:t>
            </a:r>
          </a:p>
          <a:p>
            <a:pPr algn="ctr">
              <a:lnSpc>
                <a:spcPts val="2940"/>
              </a:lnSpc>
              <a:spcBef>
                <a:spcPct val="0"/>
              </a:spcBef>
            </a:pPr>
            <a:r>
              <a:rPr lang="en-US" sz="2100">
                <a:solidFill>
                  <a:srgbClr val="000000"/>
                </a:solidFill>
                <a:latin typeface="TT Fors"/>
                <a:ea typeface="TT Fors"/>
                <a:cs typeface="TT Fors"/>
                <a:sym typeface="TT Fors"/>
              </a:rPr>
              <a:t>Fail: 15</a:t>
            </a:r>
          </a:p>
          <a:p>
            <a:pPr algn="ctr">
              <a:lnSpc>
                <a:spcPts val="2940"/>
              </a:lnSpc>
              <a:spcBef>
                <a:spcPct val="0"/>
              </a:spcBef>
            </a:pPr>
            <a:r>
              <a:rPr lang="en-US" sz="2100">
                <a:solidFill>
                  <a:srgbClr val="000000"/>
                </a:solidFill>
                <a:latin typeface="TT Fors"/>
                <a:ea typeface="TT Fors"/>
                <a:cs typeface="TT Fors"/>
                <a:sym typeface="TT Fors"/>
              </a:rPr>
              <a:t>Coverage: 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15430959" y="752281"/>
            <a:ext cx="2190291" cy="809819"/>
            <a:chOff x="0" y="0"/>
            <a:chExt cx="2920388" cy="1079758"/>
          </a:xfrm>
        </p:grpSpPr>
        <p:sp>
          <p:nvSpPr>
            <p:cNvPr id="3" name="Freeform 3"/>
            <p:cNvSpPr/>
            <p:nvPr/>
          </p:nvSpPr>
          <p:spPr>
            <a:xfrm>
              <a:off x="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20315"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84063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6" name="TextBox 6"/>
          <p:cNvSpPr txBox="1"/>
          <p:nvPr/>
        </p:nvSpPr>
        <p:spPr>
          <a:xfrm>
            <a:off x="0" y="933450"/>
            <a:ext cx="17259300" cy="8210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TT Fors"/>
                <a:ea typeface="TT Fors"/>
                <a:cs typeface="TT Fors"/>
                <a:sym typeface="TT Fors"/>
              </a:rPr>
              <a:t>CHƯƠNG 6: KIỂM THỬ TỰ ĐỘNG VÀ BÁO CÁO LỖI</a:t>
            </a:r>
          </a:p>
        </p:txBody>
      </p:sp>
      <p:grpSp>
        <p:nvGrpSpPr>
          <p:cNvPr id="7" name="Group 7"/>
          <p:cNvGrpSpPr/>
          <p:nvPr/>
        </p:nvGrpSpPr>
        <p:grpSpPr>
          <a:xfrm>
            <a:off x="15583359" y="904681"/>
            <a:ext cx="2190291" cy="809819"/>
            <a:chOff x="0" y="0"/>
            <a:chExt cx="2920388" cy="1079758"/>
          </a:xfrm>
        </p:grpSpPr>
        <p:sp>
          <p:nvSpPr>
            <p:cNvPr id="8" name="Freeform 8"/>
            <p:cNvSpPr/>
            <p:nvPr/>
          </p:nvSpPr>
          <p:spPr>
            <a:xfrm>
              <a:off x="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920315"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84063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11" name="Freeform 11"/>
          <p:cNvSpPr/>
          <p:nvPr/>
        </p:nvSpPr>
        <p:spPr>
          <a:xfrm>
            <a:off x="1028700" y="1846261"/>
            <a:ext cx="9023249" cy="3868718"/>
          </a:xfrm>
          <a:custGeom>
            <a:avLst/>
            <a:gdLst/>
            <a:ahLst/>
            <a:cxnLst/>
            <a:rect l="l" t="t" r="r" b="b"/>
            <a:pathLst>
              <a:path w="9023249" h="3868718">
                <a:moveTo>
                  <a:pt x="0" y="0"/>
                </a:moveTo>
                <a:lnTo>
                  <a:pt x="9023249" y="0"/>
                </a:lnTo>
                <a:lnTo>
                  <a:pt x="9023249" y="3868718"/>
                </a:lnTo>
                <a:lnTo>
                  <a:pt x="0" y="3868718"/>
                </a:lnTo>
                <a:lnTo>
                  <a:pt x="0" y="0"/>
                </a:lnTo>
                <a:close/>
              </a:path>
            </a:pathLst>
          </a:custGeom>
          <a:blipFill>
            <a:blip r:embed="rId4"/>
            <a:stretch>
              <a:fillRect t="-57" b="-57"/>
            </a:stretch>
          </a:blipFill>
        </p:spPr>
      </p:sp>
      <p:sp>
        <p:nvSpPr>
          <p:cNvPr id="12" name="Freeform 12"/>
          <p:cNvSpPr/>
          <p:nvPr/>
        </p:nvSpPr>
        <p:spPr>
          <a:xfrm>
            <a:off x="2667172" y="5714979"/>
            <a:ext cx="7384777" cy="4550869"/>
          </a:xfrm>
          <a:custGeom>
            <a:avLst/>
            <a:gdLst/>
            <a:ahLst/>
            <a:cxnLst/>
            <a:rect l="l" t="t" r="r" b="b"/>
            <a:pathLst>
              <a:path w="7384777" h="4550869">
                <a:moveTo>
                  <a:pt x="0" y="0"/>
                </a:moveTo>
                <a:lnTo>
                  <a:pt x="7384777" y="0"/>
                </a:lnTo>
                <a:lnTo>
                  <a:pt x="7384777" y="4550869"/>
                </a:lnTo>
                <a:lnTo>
                  <a:pt x="0" y="4550869"/>
                </a:lnTo>
                <a:lnTo>
                  <a:pt x="0" y="0"/>
                </a:lnTo>
                <a:close/>
              </a:path>
            </a:pathLst>
          </a:custGeom>
          <a:blipFill>
            <a:blip r:embed="rId5"/>
            <a:stretch>
              <a:fillRect/>
            </a:stretch>
          </a:blipFill>
        </p:spPr>
      </p:sp>
      <p:sp>
        <p:nvSpPr>
          <p:cNvPr id="13" name="Freeform 13"/>
          <p:cNvSpPr/>
          <p:nvPr/>
        </p:nvSpPr>
        <p:spPr>
          <a:xfrm>
            <a:off x="10051949" y="2402585"/>
            <a:ext cx="7019711" cy="6300191"/>
          </a:xfrm>
          <a:custGeom>
            <a:avLst/>
            <a:gdLst/>
            <a:ahLst/>
            <a:cxnLst/>
            <a:rect l="l" t="t" r="r" b="b"/>
            <a:pathLst>
              <a:path w="7019711" h="6300191">
                <a:moveTo>
                  <a:pt x="0" y="0"/>
                </a:moveTo>
                <a:lnTo>
                  <a:pt x="7019712" y="0"/>
                </a:lnTo>
                <a:lnTo>
                  <a:pt x="7019712" y="6300190"/>
                </a:lnTo>
                <a:lnTo>
                  <a:pt x="0" y="6300190"/>
                </a:lnTo>
                <a:lnTo>
                  <a:pt x="0" y="0"/>
                </a:lnTo>
                <a:close/>
              </a:path>
            </a:pathLst>
          </a:custGeom>
          <a:blipFill>
            <a:blip r:embed="rId6"/>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15430959" y="752281"/>
            <a:ext cx="2190291" cy="809819"/>
            <a:chOff x="0" y="0"/>
            <a:chExt cx="2920388" cy="1079758"/>
          </a:xfrm>
        </p:grpSpPr>
        <p:sp>
          <p:nvSpPr>
            <p:cNvPr id="3" name="Freeform 3"/>
            <p:cNvSpPr/>
            <p:nvPr/>
          </p:nvSpPr>
          <p:spPr>
            <a:xfrm>
              <a:off x="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20315"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840630" y="0"/>
              <a:ext cx="1079758" cy="1079758"/>
            </a:xfrm>
            <a:custGeom>
              <a:avLst/>
              <a:gdLst/>
              <a:ahLst/>
              <a:cxnLst/>
              <a:rect l="l" t="t" r="r" b="b"/>
              <a:pathLst>
                <a:path w="1079758" h="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6" name="Freeform 6"/>
          <p:cNvSpPr/>
          <p:nvPr/>
        </p:nvSpPr>
        <p:spPr>
          <a:xfrm>
            <a:off x="1028700" y="3329546"/>
            <a:ext cx="4550464" cy="6028884"/>
          </a:xfrm>
          <a:custGeom>
            <a:avLst/>
            <a:gdLst/>
            <a:ahLst/>
            <a:cxnLst/>
            <a:rect l="l" t="t" r="r" b="b"/>
            <a:pathLst>
              <a:path w="4550464" h="6028884">
                <a:moveTo>
                  <a:pt x="0" y="0"/>
                </a:moveTo>
                <a:lnTo>
                  <a:pt x="4550464" y="0"/>
                </a:lnTo>
                <a:lnTo>
                  <a:pt x="4550464" y="6028884"/>
                </a:lnTo>
                <a:lnTo>
                  <a:pt x="0" y="6028884"/>
                </a:lnTo>
                <a:lnTo>
                  <a:pt x="0" y="0"/>
                </a:lnTo>
                <a:close/>
              </a:path>
            </a:pathLst>
          </a:custGeom>
          <a:blipFill>
            <a:blip r:embed="rId4"/>
            <a:stretch>
              <a:fillRect/>
            </a:stretch>
          </a:blipFill>
        </p:spPr>
      </p:sp>
      <p:sp>
        <p:nvSpPr>
          <p:cNvPr id="7" name="Freeform 7"/>
          <p:cNvSpPr/>
          <p:nvPr/>
        </p:nvSpPr>
        <p:spPr>
          <a:xfrm>
            <a:off x="5701480" y="3347133"/>
            <a:ext cx="4689024" cy="5993711"/>
          </a:xfrm>
          <a:custGeom>
            <a:avLst/>
            <a:gdLst/>
            <a:ahLst/>
            <a:cxnLst/>
            <a:rect l="l" t="t" r="r" b="b"/>
            <a:pathLst>
              <a:path w="4689024" h="5993711">
                <a:moveTo>
                  <a:pt x="0" y="0"/>
                </a:moveTo>
                <a:lnTo>
                  <a:pt x="4689025" y="0"/>
                </a:lnTo>
                <a:lnTo>
                  <a:pt x="4689025" y="5993711"/>
                </a:lnTo>
                <a:lnTo>
                  <a:pt x="0" y="5993711"/>
                </a:lnTo>
                <a:lnTo>
                  <a:pt x="0" y="0"/>
                </a:lnTo>
                <a:close/>
              </a:path>
            </a:pathLst>
          </a:custGeom>
          <a:blipFill>
            <a:blip r:embed="rId5"/>
            <a:stretch>
              <a:fillRect/>
            </a:stretch>
          </a:blipFill>
        </p:spPr>
      </p:sp>
      <p:sp>
        <p:nvSpPr>
          <p:cNvPr id="8" name="Freeform 8"/>
          <p:cNvSpPr/>
          <p:nvPr/>
        </p:nvSpPr>
        <p:spPr>
          <a:xfrm>
            <a:off x="11417921" y="3329546"/>
            <a:ext cx="5841379" cy="5656915"/>
          </a:xfrm>
          <a:custGeom>
            <a:avLst/>
            <a:gdLst/>
            <a:ahLst/>
            <a:cxnLst/>
            <a:rect l="l" t="t" r="r" b="b"/>
            <a:pathLst>
              <a:path w="5841379" h="5656915">
                <a:moveTo>
                  <a:pt x="0" y="0"/>
                </a:moveTo>
                <a:lnTo>
                  <a:pt x="5841379" y="0"/>
                </a:lnTo>
                <a:lnTo>
                  <a:pt x="5841379" y="5656915"/>
                </a:lnTo>
                <a:lnTo>
                  <a:pt x="0" y="5656915"/>
                </a:lnTo>
                <a:lnTo>
                  <a:pt x="0" y="0"/>
                </a:lnTo>
                <a:close/>
              </a:path>
            </a:pathLst>
          </a:custGeom>
          <a:blipFill>
            <a:blip r:embed="rId6"/>
            <a:stretch>
              <a:fillRect/>
            </a:stretch>
          </a:blipFill>
        </p:spPr>
      </p:sp>
      <p:sp>
        <p:nvSpPr>
          <p:cNvPr id="9" name="TextBox 9"/>
          <p:cNvSpPr txBox="1"/>
          <p:nvPr/>
        </p:nvSpPr>
        <p:spPr>
          <a:xfrm>
            <a:off x="3869085" y="933450"/>
            <a:ext cx="10549830" cy="8210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TT Fors"/>
                <a:ea typeface="TT Fors"/>
                <a:cs typeface="TT Fors"/>
                <a:sym typeface="TT Fors"/>
              </a:rPr>
              <a:t>CHƯƠNG 8: TỔNG KẾT VÀ ĐÁNH GIÁ</a:t>
            </a:r>
          </a:p>
        </p:txBody>
      </p:sp>
      <p:sp>
        <p:nvSpPr>
          <p:cNvPr id="10" name="TextBox 10"/>
          <p:cNvSpPr txBox="1"/>
          <p:nvPr/>
        </p:nvSpPr>
        <p:spPr>
          <a:xfrm>
            <a:off x="1028700" y="2335985"/>
            <a:ext cx="1695004" cy="481330"/>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T Fors"/>
                <a:ea typeface="TT Fors"/>
                <a:cs typeface="TT Fors"/>
                <a:sym typeface="TT Fors"/>
              </a:rPr>
              <a:t>TỔNG KẾT</a:t>
            </a:r>
          </a:p>
        </p:txBody>
      </p:sp>
      <p:sp>
        <p:nvSpPr>
          <p:cNvPr id="11" name="TextBox 11"/>
          <p:cNvSpPr txBox="1"/>
          <p:nvPr/>
        </p:nvSpPr>
        <p:spPr>
          <a:xfrm>
            <a:off x="10816847" y="2605225"/>
            <a:ext cx="1723876" cy="423545"/>
          </a:xfrm>
          <a:prstGeom prst="rect">
            <a:avLst/>
          </a:prstGeom>
        </p:spPr>
        <p:txBody>
          <a:bodyPr lIns="0" tIns="0" rIns="0" bIns="0" rtlCol="0" anchor="t">
            <a:spAutoFit/>
          </a:bodyPr>
          <a:lstStyle/>
          <a:p>
            <a:pPr algn="ctr">
              <a:lnSpc>
                <a:spcPts val="2799"/>
              </a:lnSpc>
              <a:spcBef>
                <a:spcPct val="0"/>
              </a:spcBef>
            </a:pPr>
            <a:r>
              <a:rPr lang="en-US" sz="2799" spc="-83">
                <a:solidFill>
                  <a:srgbClr val="000000"/>
                </a:solidFill>
                <a:latin typeface="ITC Avant Garde Gothic"/>
                <a:ea typeface="ITC Avant Garde Gothic"/>
                <a:cs typeface="ITC Avant Garde Gothic"/>
                <a:sym typeface="ITC Avant Garde Gothic"/>
              </a:rPr>
              <a:t>ĐÁNH GIÁ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1046</Words>
  <Application>Microsoft Office PowerPoint</Application>
  <PresentationFormat>Custom</PresentationFormat>
  <Paragraphs>74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ITC Avant Garde Gothic</vt:lpstr>
      <vt:lpstr>Calibri</vt:lpstr>
      <vt:lpstr>Arial</vt:lpstr>
      <vt:lpstr>TT Fors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Giữa Kỳ DTM_Bùi Ngọc Huy</dc:title>
  <cp:lastModifiedBy>Administrator</cp:lastModifiedBy>
  <cp:revision>2</cp:revision>
  <dcterms:created xsi:type="dcterms:W3CDTF">2006-08-16T00:00:00Z</dcterms:created>
  <dcterms:modified xsi:type="dcterms:W3CDTF">2026-03-18T13:24:10Z</dcterms:modified>
  <dc:identifier>DAHAPD8QKYc</dc:identifier>
</cp:coreProperties>
</file>